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6"/>
  </p:notesMasterIdLst>
  <p:sldIdLst>
    <p:sldId id="344" r:id="rId3"/>
    <p:sldId id="312" r:id="rId4"/>
    <p:sldId id="311" r:id="rId5"/>
    <p:sldId id="342" r:id="rId6"/>
    <p:sldId id="341" r:id="rId7"/>
    <p:sldId id="340" r:id="rId8"/>
    <p:sldId id="318" r:id="rId9"/>
    <p:sldId id="329" r:id="rId10"/>
    <p:sldId id="343" r:id="rId11"/>
    <p:sldId id="321" r:id="rId12"/>
    <p:sldId id="327" r:id="rId13"/>
    <p:sldId id="322" r:id="rId14"/>
    <p:sldId id="310" r:id="rId15"/>
  </p:sldIdLst>
  <p:sldSz cx="12192000" cy="6858000"/>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IMEGEL" initials="P" lastIdx="1" clrIdx="0">
    <p:extLst>
      <p:ext uri="{19B8F6BF-5375-455C-9EA6-DF929625EA0E}">
        <p15:presenceInfo xmlns:p15="http://schemas.microsoft.com/office/powerpoint/2012/main" userId="PRIMEG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36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5DE985-C3A2-4D6A-9691-6C4D5865A882}" v="1" dt="2025-02-12T19:04:25.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7" autoAdjust="0"/>
    <p:restoredTop sz="86085" autoAdjust="0"/>
  </p:normalViewPr>
  <p:slideViewPr>
    <p:cSldViewPr snapToGrid="0" showGuides="1">
      <p:cViewPr varScale="1">
        <p:scale>
          <a:sx n="57" d="100"/>
          <a:sy n="57" d="100"/>
        </p:scale>
        <p:origin x="1404" y="28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gboyega Adeoti" userId="f2371612cfd15a50" providerId="LiveId" clId="{2B5DE985-C3A2-4D6A-9691-6C4D5865A882}"/>
    <pc:docChg chg="addSld delSld modSld">
      <pc:chgData name="Adegboyega Adeoti" userId="f2371612cfd15a50" providerId="LiveId" clId="{2B5DE985-C3A2-4D6A-9691-6C4D5865A882}" dt="2025-02-12T21:21:31.353" v="121" actId="20577"/>
      <pc:docMkLst>
        <pc:docMk/>
      </pc:docMkLst>
      <pc:sldChg chg="modSp mod">
        <pc:chgData name="Adegboyega Adeoti" userId="f2371612cfd15a50" providerId="LiveId" clId="{2B5DE985-C3A2-4D6A-9691-6C4D5865A882}" dt="2025-02-12T21:21:31.353" v="121" actId="20577"/>
        <pc:sldMkLst>
          <pc:docMk/>
          <pc:sldMk cId="302319401" sldId="311"/>
        </pc:sldMkLst>
        <pc:spChg chg="mod">
          <ac:chgData name="Adegboyega Adeoti" userId="f2371612cfd15a50" providerId="LiveId" clId="{2B5DE985-C3A2-4D6A-9691-6C4D5865A882}" dt="2025-02-12T21:21:31.353" v="121" actId="20577"/>
          <ac:spMkLst>
            <pc:docMk/>
            <pc:sldMk cId="302319401" sldId="311"/>
            <ac:spMk id="3" creationId="{00000000-0000-0000-0000-000000000000}"/>
          </ac:spMkLst>
        </pc:spChg>
      </pc:sldChg>
      <pc:sldChg chg="del">
        <pc:chgData name="Adegboyega Adeoti" userId="f2371612cfd15a50" providerId="LiveId" clId="{2B5DE985-C3A2-4D6A-9691-6C4D5865A882}" dt="2025-02-12T19:05:24.279" v="99" actId="2696"/>
        <pc:sldMkLst>
          <pc:docMk/>
          <pc:sldMk cId="3239610085" sldId="324"/>
        </pc:sldMkLst>
      </pc:sldChg>
      <pc:sldChg chg="modSp add mod">
        <pc:chgData name="Adegboyega Adeoti" userId="f2371612cfd15a50" providerId="LiveId" clId="{2B5DE985-C3A2-4D6A-9691-6C4D5865A882}" dt="2025-02-12T19:04:25.263" v="98" actId="339"/>
        <pc:sldMkLst>
          <pc:docMk/>
          <pc:sldMk cId="453726600" sldId="344"/>
        </pc:sldMkLst>
        <pc:spChg chg="mod">
          <ac:chgData name="Adegboyega Adeoti" userId="f2371612cfd15a50" providerId="LiveId" clId="{2B5DE985-C3A2-4D6A-9691-6C4D5865A882}" dt="2025-02-12T19:04:25.263" v="98" actId="339"/>
          <ac:spMkLst>
            <pc:docMk/>
            <pc:sldMk cId="453726600" sldId="344"/>
            <ac:spMk id="2" creationId="{7E61E524-CCD1-2F76-2796-D4071578B08C}"/>
          </ac:spMkLst>
        </pc:spChg>
        <pc:spChg chg="mod">
          <ac:chgData name="Adegboyega Adeoti" userId="f2371612cfd15a50" providerId="LiveId" clId="{2B5DE985-C3A2-4D6A-9691-6C4D5865A882}" dt="2025-02-12T19:02:25.920" v="96" actId="20577"/>
          <ac:spMkLst>
            <pc:docMk/>
            <pc:sldMk cId="453726600" sldId="344"/>
            <ac:spMk id="3" creationId="{B260BF8B-5905-B64F-CFBE-2D8E683617A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D:\POD\Chart%20in%20Microsoft%20PowerPoint.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D:\POD\WS%20MAY_JUNE%20GRAPH%20ILMD_POD%20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POD\WS%20MAY_JUNE%20GRAPH%20ILMD_POD%20A.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2800" b="1" i="0" baseline="0" dirty="0">
                <a:effectLst/>
              </a:rPr>
              <a:t>ANALYSIS OF FEEDBACK</a:t>
            </a:r>
            <a:endParaRPr lang="en-US" sz="2800" dirty="0">
              <a:effectLst/>
            </a:endParaRPr>
          </a:p>
        </c:rich>
      </c:tx>
      <c:layout>
        <c:manualLayout>
          <c:xMode val="edge"/>
          <c:yMode val="edge"/>
          <c:x val="0.26022787017640658"/>
          <c:y val="1.481481481481481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3281303020773436"/>
          <c:y val="7.8759259259259265E-2"/>
          <c:w val="0.76316124706745536"/>
          <c:h val="0.80614187809857096"/>
        </c:manualLayout>
      </c:layout>
      <c:bar3DChart>
        <c:barDir val="col"/>
        <c:grouping val="standard"/>
        <c:varyColors val="0"/>
        <c:ser>
          <c:idx val="0"/>
          <c:order val="0"/>
          <c:tx>
            <c:strRef>
              <c:f>Sheet1!$B$1</c:f>
              <c:strCache>
                <c:ptCount val="1"/>
                <c:pt idx="0">
                  <c:v>No of States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invertIfNegative val="0"/>
          <c:dPt>
            <c:idx val="0"/>
            <c:invertIfNegative val="0"/>
            <c:bubble3D val="0"/>
            <c:spPr>
              <a:gradFill rotWithShape="1">
                <a:gsLst>
                  <a:gs pos="99968">
                    <a:srgbClr val="F3350C"/>
                  </a:gs>
                  <a:gs pos="99937">
                    <a:srgbClr val="F3330C"/>
                  </a:gs>
                  <a:gs pos="99875">
                    <a:srgbClr val="F4300B"/>
                  </a:gs>
                  <a:gs pos="99750">
                    <a:srgbClr val="F62909"/>
                  </a:gs>
                  <a:gs pos="99500">
                    <a:srgbClr val="F91B06"/>
                  </a:gs>
                  <a:gs pos="100000">
                    <a:srgbClr val="F2360C"/>
                  </a:gs>
                  <a:gs pos="93000">
                    <a:srgbClr val="FF0000"/>
                  </a:gs>
                  <a:gs pos="97000">
                    <a:srgbClr val="F2360C"/>
                  </a:gs>
                  <a:gs pos="99000">
                    <a:srgbClr val="FF0000"/>
                  </a:gs>
                  <a:gs pos="95000">
                    <a:srgbClr val="FF0000"/>
                  </a:gs>
                </a:gsLst>
                <a:lin ang="5400000" scaled="0"/>
              </a:gradFill>
              <a:ln>
                <a:solidFill>
                  <a:srgbClr val="FF0000"/>
                </a:solid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a:contourClr>
                  <a:srgbClr val="FF0000"/>
                </a:contourClr>
              </a:sp3d>
            </c:spPr>
            <c:extLst>
              <c:ext xmlns:c16="http://schemas.microsoft.com/office/drawing/2014/chart" uri="{C3380CC4-5D6E-409C-BE32-E72D297353CC}">
                <c16:uniqueId val="{00000001-F044-423B-81B9-27E0C7AD72E8}"/>
              </c:ext>
            </c:extLst>
          </c:dPt>
          <c:dPt>
            <c:idx val="1"/>
            <c:invertIfNegative val="0"/>
            <c:bubble3D val="0"/>
            <c:spPr>
              <a:gradFill rotWithShape="1">
                <a:gsLst>
                  <a:gs pos="100000">
                    <a:schemeClr val="accent4">
                      <a:lumMod val="60000"/>
                      <a:lumOff val="40000"/>
                    </a:schemeClr>
                  </a:gs>
                  <a:gs pos="10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3-F044-423B-81B9-27E0C7AD72E8}"/>
              </c:ext>
            </c:extLst>
          </c:dPt>
          <c:dPt>
            <c:idx val="2"/>
            <c:invertIfNegative val="0"/>
            <c:bubble3D val="0"/>
            <c:spPr>
              <a:gradFill rotWithShape="1">
                <a:gsLst>
                  <a:gs pos="100000">
                    <a:schemeClr val="accent2">
                      <a:lumMod val="75000"/>
                    </a:schemeClr>
                  </a:gs>
                  <a:gs pos="50000">
                    <a:schemeClr val="accent2">
                      <a:lumMod val="75000"/>
                    </a:schemeClr>
                  </a:gs>
                  <a:gs pos="100000">
                    <a:schemeClr val="accent2">
                      <a:lumMod val="75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5-F044-423B-81B9-27E0C7AD72E8}"/>
              </c:ext>
            </c:extLst>
          </c:dPt>
          <c:dPt>
            <c:idx val="3"/>
            <c:invertIfNegative val="0"/>
            <c:bubble3D val="0"/>
            <c:spPr>
              <a:gradFill rotWithShape="1">
                <a:gsLst>
                  <a:gs pos="95500">
                    <a:srgbClr val="C09B99"/>
                  </a:gs>
                  <a:gs pos="97000">
                    <a:schemeClr val="accent1">
                      <a:lumMod val="60000"/>
                      <a:lumOff val="40000"/>
                    </a:schemeClr>
                  </a:gs>
                  <a:gs pos="94000">
                    <a:schemeClr val="accent1">
                      <a:lumMod val="60000"/>
                      <a:lumOff val="4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7-F044-423B-81B9-27E0C7AD72E8}"/>
              </c:ext>
            </c:extLst>
          </c:dPt>
          <c:dLbls>
            <c:dLbl>
              <c:idx val="0"/>
              <c:layout>
                <c:manualLayout>
                  <c:x val="2.6776010736148378E-2"/>
                  <c:y val="-2.96296296296296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044-423B-81B9-27E0C7AD72E8}"/>
                </c:ext>
              </c:extLst>
            </c:dLbl>
            <c:dLbl>
              <c:idx val="1"/>
              <c:layout>
                <c:manualLayout>
                  <c:x val="1.8320428398417275E-2"/>
                  <c:y val="-2.40740740740740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044-423B-81B9-27E0C7AD72E8}"/>
                </c:ext>
              </c:extLst>
            </c:dLbl>
            <c:dLbl>
              <c:idx val="2"/>
              <c:layout>
                <c:manualLayout>
                  <c:x val="1.1274109783641399E-2"/>
                  <c:y val="-1.48148148148148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044-423B-81B9-27E0C7AD72E8}"/>
                </c:ext>
              </c:extLst>
            </c:dLbl>
            <c:dLbl>
              <c:idx val="3"/>
              <c:layout>
                <c:manualLayout>
                  <c:x val="8.4555823377310494E-3"/>
                  <c:y val="-1.66666666666666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044-423B-81B9-27E0C7AD72E8}"/>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Official notification of LMD</c:v>
                </c:pt>
                <c:pt idx="1">
                  <c:v>State level LMD order finalization through QTO review meeting</c:v>
                </c:pt>
                <c:pt idx="2">
                  <c:v>Information about rationed commodities (HIV commodities)</c:v>
                </c:pt>
                <c:pt idx="3">
                  <c:v>Participation in route plan development</c:v>
                </c:pt>
              </c:strCache>
            </c:strRef>
          </c:cat>
          <c:val>
            <c:numRef>
              <c:f>Sheet1!$B$2:$B$5</c:f>
              <c:numCache>
                <c:formatCode>General</c:formatCode>
                <c:ptCount val="4"/>
                <c:pt idx="0">
                  <c:v>37</c:v>
                </c:pt>
                <c:pt idx="1">
                  <c:v>37</c:v>
                </c:pt>
                <c:pt idx="2">
                  <c:v>36</c:v>
                </c:pt>
                <c:pt idx="3">
                  <c:v>37</c:v>
                </c:pt>
              </c:numCache>
            </c:numRef>
          </c:val>
          <c:shape val="cylinder"/>
          <c:extLst>
            <c:ext xmlns:c16="http://schemas.microsoft.com/office/drawing/2014/chart" uri="{C3380CC4-5D6E-409C-BE32-E72D297353CC}">
              <c16:uniqueId val="{00000000-2AA3-4ABA-902D-A01931370E8E}"/>
            </c:ext>
          </c:extLst>
        </c:ser>
        <c:dLbls>
          <c:showLegendKey val="0"/>
          <c:showVal val="1"/>
          <c:showCatName val="0"/>
          <c:showSerName val="0"/>
          <c:showPercent val="0"/>
          <c:showBubbleSize val="0"/>
        </c:dLbls>
        <c:gapWidth val="150"/>
        <c:shape val="box"/>
        <c:axId val="250655624"/>
        <c:axId val="250658760"/>
        <c:axId val="252197904"/>
      </c:bar3DChart>
      <c:catAx>
        <c:axId val="25065562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sz="2000" dirty="0"/>
                  <a:t>Key Performance Indicator</a:t>
                </a:r>
              </a:p>
            </c:rich>
          </c:tx>
          <c:layout>
            <c:manualLayout>
              <c:xMode val="edge"/>
              <c:yMode val="edge"/>
              <c:x val="0.38067264712324889"/>
              <c:y val="0.843682560513269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50658760"/>
        <c:crosses val="autoZero"/>
        <c:auto val="1"/>
        <c:lblAlgn val="ctr"/>
        <c:lblOffset val="100"/>
        <c:noMultiLvlLbl val="0"/>
      </c:catAx>
      <c:valAx>
        <c:axId val="25065876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sz="1800" b="0" i="0" baseline="0" dirty="0">
                    <a:effectLst/>
                  </a:rPr>
                  <a:t>No of States</a:t>
                </a:r>
                <a:endParaRPr lang="en-US" dirty="0">
                  <a:effectLst/>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50655624"/>
        <c:crosses val="autoZero"/>
        <c:crossBetween val="between"/>
      </c:valAx>
      <c:serAx>
        <c:axId val="252197904"/>
        <c:scaling>
          <c:orientation val="minMax"/>
        </c:scaling>
        <c:delete val="1"/>
        <c:axPos val="b"/>
        <c:majorTickMark val="none"/>
        <c:minorTickMark val="none"/>
        <c:tickLblPos val="nextTo"/>
        <c:crossAx val="250658760"/>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800" dirty="0">
                <a:effectLst/>
              </a:rPr>
              <a:t>RESPONSE</a:t>
            </a:r>
            <a:r>
              <a:rPr lang="en-US" sz="1800" baseline="0" dirty="0">
                <a:effectLst/>
              </a:rPr>
              <a:t> FROM STATE</a:t>
            </a:r>
            <a:endParaRPr lang="en-US" sz="1800" dirty="0">
              <a:effectLst/>
            </a:endParaRPr>
          </a:p>
        </c:rich>
      </c:tx>
      <c:layout>
        <c:manualLayout>
          <c:xMode val="edge"/>
          <c:yMode val="edge"/>
          <c:x val="0.32175071387666038"/>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Sheet1!$C$8</c:f>
              <c:strCache>
                <c:ptCount val="1"/>
                <c:pt idx="0">
                  <c:v>No Of States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invertIfNegative val="0"/>
          <c:dPt>
            <c:idx val="2"/>
            <c:invertIfNegative val="0"/>
            <c:bubble3D val="0"/>
            <c:spPr>
              <a:gradFill rotWithShape="1">
                <a:gsLst>
                  <a:gs pos="100000">
                    <a:schemeClr val="accent4">
                      <a:lumMod val="60000"/>
                      <a:lumOff val="40000"/>
                    </a:schemeClr>
                  </a:gs>
                  <a:gs pos="100000">
                    <a:schemeClr val="accent4">
                      <a:lumMod val="60000"/>
                      <a:lumOff val="4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1-E454-43CB-A79E-1BF6B69678EA}"/>
              </c:ext>
            </c:extLst>
          </c:dPt>
          <c:dPt>
            <c:idx val="3"/>
            <c:invertIfNegative val="0"/>
            <c:bubble3D val="0"/>
            <c:spPr>
              <a:gradFill rotWithShape="1">
                <a:gsLst>
                  <a:gs pos="5000">
                    <a:schemeClr val="accent2">
                      <a:satMod val="103000"/>
                      <a:lumMod val="102000"/>
                      <a:tint val="94000"/>
                    </a:schemeClr>
                  </a:gs>
                  <a:gs pos="3000">
                    <a:schemeClr val="accent2">
                      <a:satMod val="110000"/>
                      <a:lumMod val="100000"/>
                      <a:shade val="100000"/>
                    </a:schemeClr>
                  </a:gs>
                  <a:gs pos="98000">
                    <a:schemeClr val="accent4">
                      <a:lumMod val="60000"/>
                      <a:lumOff val="40000"/>
                    </a:schemeClr>
                  </a:gs>
                  <a:gs pos="98000">
                    <a:schemeClr val="accent4">
                      <a:lumMod val="60000"/>
                      <a:lumOff val="4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3-E454-43CB-A79E-1BF6B69678EA}"/>
              </c:ext>
            </c:extLst>
          </c:dPt>
          <c:dPt>
            <c:idx val="4"/>
            <c:invertIfNegative val="0"/>
            <c:bubble3D val="0"/>
            <c:spPr>
              <a:gradFill rotWithShape="1">
                <a:gsLst>
                  <a:gs pos="0">
                    <a:schemeClr val="accent2">
                      <a:satMod val="103000"/>
                      <a:lumMod val="102000"/>
                      <a:tint val="94000"/>
                    </a:schemeClr>
                  </a:gs>
                  <a:gs pos="0">
                    <a:srgbClr val="FF0000"/>
                  </a:gs>
                  <a:gs pos="0">
                    <a:srgbClr val="FF0000"/>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5-E454-43CB-A79E-1BF6B69678EA}"/>
              </c:ext>
            </c:extLst>
          </c:dPt>
          <c:dPt>
            <c:idx val="5"/>
            <c:invertIfNegative val="0"/>
            <c:bubble3D val="0"/>
            <c:spPr>
              <a:gradFill rotWithShape="1">
                <a:gsLst>
                  <a:gs pos="0">
                    <a:srgbClr val="FF0000"/>
                  </a:gs>
                  <a:gs pos="3000">
                    <a:srgbClr val="FF0000"/>
                  </a:gs>
                  <a:gs pos="2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extLst>
              <c:ext xmlns:c16="http://schemas.microsoft.com/office/drawing/2014/chart" uri="{C3380CC4-5D6E-409C-BE32-E72D297353CC}">
                <c16:uniqueId val="{00000007-E454-43CB-A79E-1BF6B69678EA}"/>
              </c:ext>
            </c:extLst>
          </c:dPt>
          <c:dLbls>
            <c:dLbl>
              <c:idx val="0"/>
              <c:layout>
                <c:manualLayout>
                  <c:x val="9.6736587415028191E-3"/>
                  <c:y val="-8.711894892017091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454-43CB-A79E-1BF6B69678EA}"/>
                </c:ext>
              </c:extLst>
            </c:dLbl>
            <c:dLbl>
              <c:idx val="1"/>
              <c:layout>
                <c:manualLayout>
                  <c:x val="1.2898211655336875E-2"/>
                  <c:y val="-1.30678423380256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454-43CB-A79E-1BF6B69678EA}"/>
                </c:ext>
              </c:extLst>
            </c:dLbl>
            <c:dLbl>
              <c:idx val="2"/>
              <c:layout>
                <c:manualLayout>
                  <c:x val="9.6736587415028191E-3"/>
                  <c:y val="-1.30678423380256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454-43CB-A79E-1BF6B69678EA}"/>
                </c:ext>
              </c:extLst>
            </c:dLbl>
            <c:dLbl>
              <c:idx val="3"/>
              <c:layout>
                <c:manualLayout>
                  <c:x val="1.2898211655336875E-2"/>
                  <c:y val="-8.711894892017171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454-43CB-A79E-1BF6B69678EA}"/>
                </c:ext>
              </c:extLst>
            </c:dLbl>
            <c:dLbl>
              <c:idx val="4"/>
              <c:layout>
                <c:manualLayout>
                  <c:x val="1.451048811225405E-2"/>
                  <c:y val="-8.711894892017131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454-43CB-A79E-1BF6B69678EA}"/>
                </c:ext>
              </c:extLst>
            </c:dLbl>
            <c:dLbl>
              <c:idx val="5"/>
              <c:layout>
                <c:manualLayout>
                  <c:x val="1.6122764569171048E-2"/>
                  <c:y val="8.5746996948707638E-8"/>
                </c:manualLayout>
              </c:layout>
              <c:showLegendKey val="0"/>
              <c:showVal val="1"/>
              <c:showCatName val="0"/>
              <c:showSerName val="0"/>
              <c:showPercent val="0"/>
              <c:showBubbleSize val="0"/>
              <c:extLst>
                <c:ext xmlns:c15="http://schemas.microsoft.com/office/drawing/2012/chart" uri="{CE6537A1-D6FC-4f65-9D91-7224C49458BB}">
                  <c15:layout>
                    <c:manualLayout>
                      <c:w val="3.582478287269833E-2"/>
                      <c:h val="4.906974797928626E-2"/>
                    </c:manualLayout>
                  </c15:layout>
                </c:ext>
                <c:ext xmlns:c16="http://schemas.microsoft.com/office/drawing/2014/chart" uri="{C3380CC4-5D6E-409C-BE32-E72D297353CC}">
                  <c16:uniqueId val="{00000007-E454-43CB-A79E-1BF6B69678EA}"/>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Sheet1!$B$9:$B$14</c:f>
              <c:strCache>
                <c:ptCount val="6"/>
                <c:pt idx="0">
                  <c:v>Non-Occurrence of Proxy</c:v>
                </c:pt>
                <c:pt idx="1">
                  <c:v>Occurrence of Proxy</c:v>
                </c:pt>
                <c:pt idx="2">
                  <c:v>Complete Delivery</c:v>
                </c:pt>
                <c:pt idx="3">
                  <c:v>Incomplete Delivery</c:v>
                </c:pt>
                <c:pt idx="4">
                  <c:v>Timely LMD</c:v>
                </c:pt>
                <c:pt idx="5">
                  <c:v>Untimely LMD</c:v>
                </c:pt>
              </c:strCache>
            </c:strRef>
          </c:cat>
          <c:val>
            <c:numRef>
              <c:f>Sheet1!$C$9:$C$14</c:f>
              <c:numCache>
                <c:formatCode>General</c:formatCode>
                <c:ptCount val="6"/>
                <c:pt idx="0">
                  <c:v>35</c:v>
                </c:pt>
                <c:pt idx="1">
                  <c:v>2</c:v>
                </c:pt>
                <c:pt idx="2">
                  <c:v>35</c:v>
                </c:pt>
                <c:pt idx="3">
                  <c:v>2</c:v>
                </c:pt>
                <c:pt idx="4">
                  <c:v>21</c:v>
                </c:pt>
                <c:pt idx="5">
                  <c:v>16</c:v>
                </c:pt>
              </c:numCache>
            </c:numRef>
          </c:val>
          <c:shape val="cylinder"/>
          <c:extLst>
            <c:ext xmlns:c16="http://schemas.microsoft.com/office/drawing/2014/chart" uri="{C3380CC4-5D6E-409C-BE32-E72D297353CC}">
              <c16:uniqueId val="{00000000-9631-4B5B-AD2F-A1CD8CFBE88C}"/>
            </c:ext>
          </c:extLst>
        </c:ser>
        <c:dLbls>
          <c:showLegendKey val="0"/>
          <c:showVal val="1"/>
          <c:showCatName val="0"/>
          <c:showSerName val="0"/>
          <c:showPercent val="0"/>
          <c:showBubbleSize val="0"/>
        </c:dLbls>
        <c:gapWidth val="150"/>
        <c:shape val="box"/>
        <c:axId val="353750200"/>
        <c:axId val="353754904"/>
        <c:axId val="0"/>
      </c:bar3DChart>
      <c:catAx>
        <c:axId val="353750200"/>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53754904"/>
        <c:crosses val="autoZero"/>
        <c:auto val="1"/>
        <c:lblAlgn val="ctr"/>
        <c:lblOffset val="100"/>
        <c:noMultiLvlLbl val="0"/>
      </c:catAx>
      <c:valAx>
        <c:axId val="35375490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sz="1800" b="0" i="0" baseline="0" dirty="0">
                    <a:effectLst/>
                  </a:rPr>
                  <a:t>No of States</a:t>
                </a:r>
                <a:endParaRPr lang="en-US" dirty="0">
                  <a:effectLst/>
                </a:endParaRP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537502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dirty="0">
                <a:effectLst/>
              </a:rPr>
              <a:t>ANALYSIS OF FEEDBACK</a:t>
            </a:r>
            <a:endParaRPr lang="en-US" sz="2400" dirty="0">
              <a:effectLst/>
            </a:endParaRPr>
          </a:p>
        </c:rich>
      </c:tx>
      <c:layout>
        <c:manualLayout>
          <c:xMode val="edge"/>
          <c:yMode val="edge"/>
          <c:x val="0.40674493288110231"/>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8985773761950622"/>
          <c:y val="6.8685185185185182E-2"/>
          <c:w val="0.69015187274801848"/>
          <c:h val="0.78982720909886261"/>
        </c:manualLayout>
      </c:layout>
      <c:bar3DChart>
        <c:barDir val="col"/>
        <c:grouping val="standard"/>
        <c:varyColors val="0"/>
        <c:ser>
          <c:idx val="0"/>
          <c:order val="0"/>
          <c:tx>
            <c:strRef>
              <c:f>Sheet1!$C$31</c:f>
              <c:strCache>
                <c:ptCount val="1"/>
                <c:pt idx="0">
                  <c:v>No Of States</c:v>
                </c:pt>
              </c:strCache>
            </c:strRef>
          </c:tx>
          <c:spPr>
            <a:solidFill>
              <a:schemeClr val="accent1"/>
            </a:solidFill>
            <a:ln>
              <a:noFill/>
            </a:ln>
            <a:effectLst/>
            <a:sp3d/>
          </c:spPr>
          <c:invertIfNegative val="0"/>
          <c:dPt>
            <c:idx val="0"/>
            <c:invertIfNegative val="0"/>
            <c:bubble3D val="0"/>
            <c:spPr>
              <a:solidFill>
                <a:srgbClr val="FF0000"/>
              </a:solidFill>
              <a:ln>
                <a:noFill/>
              </a:ln>
              <a:effectLst/>
              <a:sp3d/>
            </c:spPr>
            <c:extLst>
              <c:ext xmlns:c16="http://schemas.microsoft.com/office/drawing/2014/chart" uri="{C3380CC4-5D6E-409C-BE32-E72D297353CC}">
                <c16:uniqueId val="{00000001-537F-4E64-A0F0-8E1D651388BE}"/>
              </c:ext>
            </c:extLst>
          </c:dPt>
          <c:dPt>
            <c:idx val="1"/>
            <c:invertIfNegative val="0"/>
            <c:bubble3D val="0"/>
            <c:spPr>
              <a:solidFill>
                <a:schemeClr val="accent4">
                  <a:lumMod val="60000"/>
                  <a:lumOff val="40000"/>
                </a:schemeClr>
              </a:solidFill>
              <a:ln>
                <a:noFill/>
              </a:ln>
              <a:effectLst/>
              <a:sp3d/>
            </c:spPr>
            <c:extLst>
              <c:ext xmlns:c16="http://schemas.microsoft.com/office/drawing/2014/chart" uri="{C3380CC4-5D6E-409C-BE32-E72D297353CC}">
                <c16:uniqueId val="{00000003-537F-4E64-A0F0-8E1D651388BE}"/>
              </c:ext>
            </c:extLst>
          </c:dPt>
          <c:dPt>
            <c:idx val="2"/>
            <c:invertIfNegative val="0"/>
            <c:bubble3D val="0"/>
            <c:spPr>
              <a:solidFill>
                <a:schemeClr val="accent2">
                  <a:lumMod val="75000"/>
                </a:schemeClr>
              </a:solidFill>
              <a:ln>
                <a:noFill/>
              </a:ln>
              <a:effectLst/>
              <a:sp3d/>
            </c:spPr>
            <c:extLst>
              <c:ext xmlns:c16="http://schemas.microsoft.com/office/drawing/2014/chart" uri="{C3380CC4-5D6E-409C-BE32-E72D297353CC}">
                <c16:uniqueId val="{00000005-537F-4E64-A0F0-8E1D651388BE}"/>
              </c:ext>
            </c:extLst>
          </c:dPt>
          <c:dLbls>
            <c:dLbl>
              <c:idx val="0"/>
              <c:layout>
                <c:manualLayout>
                  <c:x val="2.5819790301206513E-2"/>
                  <c:y val="-1.85185185185185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37F-4E64-A0F0-8E1D651388BE}"/>
                </c:ext>
              </c:extLst>
            </c:dLbl>
            <c:dLbl>
              <c:idx val="1"/>
              <c:layout>
                <c:manualLayout>
                  <c:x val="1.2150489553508973E-2"/>
                  <c:y val="-1.85185185185185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37F-4E64-A0F0-8E1D651388BE}"/>
                </c:ext>
              </c:extLst>
            </c:dLbl>
            <c:dLbl>
              <c:idx val="2"/>
              <c:layout>
                <c:manualLayout>
                  <c:x val="2.2782167912829325E-2"/>
                  <c:y val="-1.66666666666667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37F-4E64-A0F0-8E1D651388BE}"/>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Sheet1!$B$32:$B$34</c:f>
              <c:strCache>
                <c:ptCount val="3"/>
                <c:pt idx="0">
                  <c:v>POD Receipts</c:v>
                </c:pt>
                <c:pt idx="1">
                  <c:v>Validation of PODs</c:v>
                </c:pt>
                <c:pt idx="2">
                  <c:v>Sign-Off of PODs</c:v>
                </c:pt>
              </c:strCache>
            </c:strRef>
          </c:cat>
          <c:val>
            <c:numRef>
              <c:f>Sheet1!$C$32:$C$34</c:f>
              <c:numCache>
                <c:formatCode>General</c:formatCode>
                <c:ptCount val="3"/>
                <c:pt idx="0">
                  <c:v>37</c:v>
                </c:pt>
                <c:pt idx="1">
                  <c:v>37</c:v>
                </c:pt>
                <c:pt idx="2">
                  <c:v>35</c:v>
                </c:pt>
              </c:numCache>
            </c:numRef>
          </c:val>
          <c:shape val="cylinder"/>
          <c:extLst>
            <c:ext xmlns:c16="http://schemas.microsoft.com/office/drawing/2014/chart" uri="{C3380CC4-5D6E-409C-BE32-E72D297353CC}">
              <c16:uniqueId val="{00000000-EA48-4618-A8DE-0C4FC915854B}"/>
            </c:ext>
          </c:extLst>
        </c:ser>
        <c:dLbls>
          <c:showLegendKey val="0"/>
          <c:showVal val="1"/>
          <c:showCatName val="0"/>
          <c:showSerName val="0"/>
          <c:showPercent val="0"/>
          <c:showBubbleSize val="0"/>
        </c:dLbls>
        <c:gapWidth val="150"/>
        <c:shape val="box"/>
        <c:axId val="246315992"/>
        <c:axId val="246315600"/>
        <c:axId val="249057448"/>
      </c:bar3DChart>
      <c:catAx>
        <c:axId val="2463159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Parameter</a:t>
                </a:r>
              </a:p>
            </c:rich>
          </c:tx>
          <c:layout>
            <c:manualLayout>
              <c:xMode val="edge"/>
              <c:yMode val="edge"/>
              <c:x val="0.44998752063400677"/>
              <c:y val="0.8454542140565762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46315600"/>
        <c:crosses val="autoZero"/>
        <c:auto val="1"/>
        <c:lblAlgn val="ctr"/>
        <c:lblOffset val="100"/>
        <c:noMultiLvlLbl val="0"/>
      </c:catAx>
      <c:valAx>
        <c:axId val="2463156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No of States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46315992"/>
        <c:crosses val="autoZero"/>
        <c:crossBetween val="between"/>
      </c:valAx>
      <c:serAx>
        <c:axId val="249057448"/>
        <c:scaling>
          <c:orientation val="minMax"/>
        </c:scaling>
        <c:delete val="1"/>
        <c:axPos val="b"/>
        <c:majorTickMark val="none"/>
        <c:minorTickMark val="none"/>
        <c:tickLblPos val="nextTo"/>
        <c:crossAx val="246315600"/>
        <c:crosses val="autoZero"/>
      </c:ser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0.01127</cdr:x>
      <cdr:y>0.44619</cdr:y>
    </cdr:from>
    <cdr:to>
      <cdr:x>0.14548</cdr:x>
      <cdr:y>0.58843</cdr:y>
    </cdr:to>
    <cdr:sp macro="" textlink="">
      <cdr:nvSpPr>
        <cdr:cNvPr id="2" name="Arrow: Right 1">
          <a:extLst xmlns:a="http://schemas.openxmlformats.org/drawingml/2006/main">
            <a:ext uri="{FF2B5EF4-FFF2-40B4-BE49-F238E27FC236}">
              <a16:creationId xmlns:a16="http://schemas.microsoft.com/office/drawing/2014/main" id="{7966FC95-C876-4BFB-AB19-F2C10502FACD}"/>
            </a:ext>
          </a:extLst>
        </cdr:cNvPr>
        <cdr:cNvSpPr/>
      </cdr:nvSpPr>
      <cdr:spPr>
        <a:xfrm xmlns:a="http://schemas.openxmlformats.org/drawingml/2006/main">
          <a:off x="101599" y="3059953"/>
          <a:ext cx="1209408" cy="975482"/>
        </a:xfrm>
        <a:prstGeom xmlns:a="http://schemas.openxmlformats.org/drawingml/2006/main" prst="rightArrow">
          <a:avLst/>
        </a:prstGeom>
        <a:solidFill xmlns:a="http://schemas.openxmlformats.org/drawingml/2006/main">
          <a:schemeClr val="bg2"/>
        </a:solidFill>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sz="1400" b="1" dirty="0"/>
        </a:p>
        <a:p xmlns:a="http://schemas.openxmlformats.org/drawingml/2006/main">
          <a:pPr algn="ctr"/>
          <a:r>
            <a:rPr lang="en-US" sz="1400" dirty="0">
              <a:ln w="0"/>
              <a:solidFill>
                <a:schemeClr val="tx1"/>
              </a:solidFill>
              <a:effectLst>
                <a:outerShdw blurRad="38100" dist="19050" dir="2700000" algn="tl" rotWithShape="0">
                  <a:schemeClr val="dk1">
                    <a:alpha val="40000"/>
                  </a:schemeClr>
                </a:outerShdw>
              </a:effectLst>
            </a:rPr>
            <a:t>PRE-LMD ACTIVITIES</a:t>
          </a:r>
        </a:p>
        <a:p xmlns:a="http://schemas.openxmlformats.org/drawingml/2006/main">
          <a:pPr algn="ctr"/>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0.37286</cdr:x>
      <cdr:y>0.06265</cdr:y>
    </cdr:from>
    <cdr:to>
      <cdr:x>0.83663</cdr:x>
      <cdr:y>0.11566</cdr:y>
    </cdr:to>
    <cdr:sp macro="" textlink="">
      <cdr:nvSpPr>
        <cdr:cNvPr id="2" name="TextBox 1"/>
        <cdr:cNvSpPr txBox="1"/>
      </cdr:nvSpPr>
      <cdr:spPr>
        <a:xfrm xmlns:a="http://schemas.openxmlformats.org/drawingml/2006/main">
          <a:off x="3117775" y="429658"/>
          <a:ext cx="3877937" cy="36355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en-US" strike="noStrike" noProof="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EFD42F7-718C-4B98-AAEC-167E6DDD60A7}" type="datetimeFigureOut">
              <a:rPr lang="en-US" strike="noStrike" noProof="1" smtClean="0">
                <a:latin typeface="+mn-lt"/>
                <a:ea typeface="+mn-ea"/>
                <a:cs typeface="+mn-cs"/>
              </a:rPr>
              <a:pPr fontAlgn="auto"/>
              <a:t>2/12/2025</a:t>
            </a:fld>
            <a:endParaRPr lang="en-US" strike="noStrike" noProof="1"/>
          </a:p>
        </p:txBody>
      </p:sp>
      <p:sp>
        <p:nvSpPr>
          <p:cNvPr id="3076" name="Slide Image Placeholder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Notes Placeholder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en-US" altLang="zh-CN"/>
              <a:t>Click to edit Master text styles</a:t>
            </a:r>
          </a:p>
          <a:p>
            <a:pPr lvl="1" indent="0"/>
            <a:r>
              <a:rPr lang="en-US" altLang="zh-CN"/>
              <a:t>Second level</a:t>
            </a:r>
          </a:p>
          <a:p>
            <a:pPr lvl="2" indent="0"/>
            <a:r>
              <a:rPr lang="en-US" altLang="zh-CN"/>
              <a:t>Third level</a:t>
            </a:r>
          </a:p>
          <a:p>
            <a:pPr lvl="3" indent="0"/>
            <a:r>
              <a:rPr lang="en-US" altLang="zh-CN"/>
              <a:t>Fourth level</a:t>
            </a:r>
          </a:p>
          <a:p>
            <a:pPr lvl="4" indent="0"/>
            <a:r>
              <a:rPr lang="en-US" altLang="zh-CN"/>
              <a:t>Fifth level</a:t>
            </a: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en-US" strike="noStrike" noProof="1"/>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21B2AA4F-B828-4D7C-AFD3-893933DAFCB4}" type="slidenum">
              <a:rPr lang="en-US" strike="noStrike" noProof="1" smtClean="0">
                <a:latin typeface="+mn-lt"/>
                <a:ea typeface="+mn-ea"/>
                <a:cs typeface="+mn-cs"/>
              </a:rPr>
              <a:pPr fontAlgn="auto"/>
              <a:t>‹#›</a:t>
            </a:fld>
            <a:endParaRPr lang="en-US" strike="noStrike" noProof="1"/>
          </a:p>
        </p:txBody>
      </p:sp>
    </p:spTree>
    <p:extLst>
      <p:ext uri="{BB962C8B-B14F-4D97-AF65-F5344CB8AC3E}">
        <p14:creationId xmlns:p14="http://schemas.microsoft.com/office/powerpoint/2010/main" val="392298390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0DFE-5A79-75D0-60E0-08AC77671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3EAD2-A6B6-3E04-FA37-EAB86EC37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D5B5C-7EE4-D095-C55D-EAB94B54B8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6422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4901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49899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5103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33780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1720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auto"/>
            <a:r>
              <a:rPr lang="en-US" strike="noStrike" noProof="1"/>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en-US" strike="noStrike" noProof="1"/>
              <a:t>Click to edit Master subtitle style</a:t>
            </a:r>
          </a:p>
        </p:txBody>
      </p:sp>
      <p:sp>
        <p:nvSpPr>
          <p:cNvPr id="4" name="Date Placeholder 3"/>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5" name="Footer Placeholder 4"/>
          <p:cNvSpPr>
            <a:spLocks noGrp="1"/>
          </p:cNvSpPr>
          <p:nvPr>
            <p:ph type="ftr" sz="quarter" idx="11"/>
          </p:nvPr>
        </p:nvSpPr>
        <p:spPr/>
        <p:txBody>
          <a:bodyPr/>
          <a:lstStyle/>
          <a:p>
            <a:pPr fontAlgn="auto"/>
            <a:endParaRPr lang="en-US" strike="noStrike" noProof="1"/>
          </a:p>
        </p:txBody>
      </p:sp>
      <p:sp>
        <p:nvSpPr>
          <p:cNvPr id="6" name="Slide Number Placeholder 5"/>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p>
        </p:txBody>
      </p:sp>
      <p:sp>
        <p:nvSpPr>
          <p:cNvPr id="3" name="Content Placeholder 2"/>
          <p:cNvSpPr>
            <a:spLocks noGrp="1"/>
          </p:cNvSpPr>
          <p:nvPr>
            <p:ph idx="1"/>
          </p:nvPr>
        </p:nvSpPr>
        <p:spPr/>
        <p:txBody>
          <a:bodyPr/>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4" name="Date Placeholder 3"/>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5" name="Footer Placeholder 4"/>
          <p:cNvSpPr>
            <a:spLocks noGrp="1"/>
          </p:cNvSpPr>
          <p:nvPr>
            <p:ph type="ftr" sz="quarter" idx="11"/>
          </p:nvPr>
        </p:nvSpPr>
        <p:spPr/>
        <p:txBody>
          <a:bodyPr/>
          <a:lstStyle/>
          <a:p>
            <a:pPr fontAlgn="auto"/>
            <a:endParaRPr lang="en-US" strike="noStrike" noProof="1"/>
          </a:p>
        </p:txBody>
      </p:sp>
      <p:sp>
        <p:nvSpPr>
          <p:cNvPr id="6" name="Slide Number Placeholder 5"/>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auto"/>
            <a:r>
              <a:rPr lang="en-US" strike="noStrike" noProof="1"/>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en-US" strike="noStrike" noProof="1"/>
              <a:t>Click to edit Master text styles</a:t>
            </a:r>
          </a:p>
        </p:txBody>
      </p:sp>
      <p:sp>
        <p:nvSpPr>
          <p:cNvPr id="4" name="Date Placeholder 3"/>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5" name="Footer Placeholder 4"/>
          <p:cNvSpPr>
            <a:spLocks noGrp="1"/>
          </p:cNvSpPr>
          <p:nvPr>
            <p:ph type="ftr" sz="quarter" idx="11"/>
          </p:nvPr>
        </p:nvSpPr>
        <p:spPr/>
        <p:txBody>
          <a:bodyPr/>
          <a:lstStyle/>
          <a:p>
            <a:pPr fontAlgn="auto"/>
            <a:endParaRPr lang="en-US" strike="noStrike" noProof="1"/>
          </a:p>
        </p:txBody>
      </p:sp>
      <p:sp>
        <p:nvSpPr>
          <p:cNvPr id="6" name="Slide Number Placeholder 5"/>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4" name="Content Placeholder 3"/>
          <p:cNvSpPr>
            <a:spLocks noGrp="1"/>
          </p:cNvSpPr>
          <p:nvPr>
            <p:ph sz="half" idx="2"/>
          </p:nvPr>
        </p:nvSpPr>
        <p:spPr>
          <a:xfrm>
            <a:off x="6172200" y="1825625"/>
            <a:ext cx="5181600" cy="4351338"/>
          </a:xfrm>
        </p:spPr>
        <p:txBody>
          <a:bodyPr/>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5" name="Date Placeholder 4"/>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6" name="Footer Placeholder 5"/>
          <p:cNvSpPr>
            <a:spLocks noGrp="1"/>
          </p:cNvSpPr>
          <p:nvPr>
            <p:ph type="ftr" sz="quarter" idx="11"/>
          </p:nvPr>
        </p:nvSpPr>
        <p:spPr/>
        <p:txBody>
          <a:bodyPr/>
          <a:lstStyle/>
          <a:p>
            <a:pPr fontAlgn="auto"/>
            <a:endParaRPr lang="en-US" strike="noStrike" noProof="1"/>
          </a:p>
        </p:txBody>
      </p:sp>
      <p:sp>
        <p:nvSpPr>
          <p:cNvPr id="7" name="Slide Number Placeholder 6"/>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auto"/>
            <a:r>
              <a:rPr lang="en-US" strike="noStrike" noProof="1"/>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7" name="Date Placeholder 6"/>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8" name="Footer Placeholder 7"/>
          <p:cNvSpPr>
            <a:spLocks noGrp="1"/>
          </p:cNvSpPr>
          <p:nvPr>
            <p:ph type="ftr" sz="quarter" idx="11"/>
          </p:nvPr>
        </p:nvSpPr>
        <p:spPr/>
        <p:txBody>
          <a:bodyPr/>
          <a:lstStyle/>
          <a:p>
            <a:pPr fontAlgn="auto"/>
            <a:endParaRPr lang="en-US" strike="noStrike" noProof="1"/>
          </a:p>
        </p:txBody>
      </p:sp>
      <p:sp>
        <p:nvSpPr>
          <p:cNvPr id="9" name="Slide Number Placeholder 8"/>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p>
        </p:txBody>
      </p:sp>
      <p:sp>
        <p:nvSpPr>
          <p:cNvPr id="3" name="Date Placeholder 2"/>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4" name="Footer Placeholder 3"/>
          <p:cNvSpPr>
            <a:spLocks noGrp="1"/>
          </p:cNvSpPr>
          <p:nvPr>
            <p:ph type="ftr" sz="quarter" idx="11"/>
          </p:nvPr>
        </p:nvSpPr>
        <p:spPr/>
        <p:txBody>
          <a:bodyPr/>
          <a:lstStyle/>
          <a:p>
            <a:pPr fontAlgn="auto"/>
            <a:endParaRPr lang="en-US" strike="noStrike" noProof="1"/>
          </a:p>
        </p:txBody>
      </p:sp>
      <p:sp>
        <p:nvSpPr>
          <p:cNvPr id="5" name="Slide Number Placeholder 4"/>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3" name="Footer Placeholder 2"/>
          <p:cNvSpPr>
            <a:spLocks noGrp="1"/>
          </p:cNvSpPr>
          <p:nvPr>
            <p:ph type="ftr" sz="quarter" idx="11"/>
          </p:nvPr>
        </p:nvSpPr>
        <p:spPr/>
        <p:txBody>
          <a:bodyPr/>
          <a:lstStyle/>
          <a:p>
            <a:pPr fontAlgn="auto"/>
            <a:endParaRPr lang="en-US" strike="noStrike" noProof="1"/>
          </a:p>
        </p:txBody>
      </p:sp>
      <p:sp>
        <p:nvSpPr>
          <p:cNvPr id="4" name="Slide Number Placeholder 3"/>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auto"/>
            <a:r>
              <a:rPr lang="en-US" strike="noStrike" noProof="1"/>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en-US" strike="noStrike" noProof="1"/>
              <a:t>Click to edit Master text styles</a:t>
            </a:r>
          </a:p>
        </p:txBody>
      </p:sp>
      <p:sp>
        <p:nvSpPr>
          <p:cNvPr id="5" name="Date Placeholder 4"/>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6" name="Footer Placeholder 5"/>
          <p:cNvSpPr>
            <a:spLocks noGrp="1"/>
          </p:cNvSpPr>
          <p:nvPr>
            <p:ph type="ftr" sz="quarter" idx="11"/>
          </p:nvPr>
        </p:nvSpPr>
        <p:spPr/>
        <p:txBody>
          <a:bodyPr/>
          <a:lstStyle/>
          <a:p>
            <a:pPr fontAlgn="auto"/>
            <a:endParaRPr lang="en-US" strike="noStrike" noProof="1"/>
          </a:p>
        </p:txBody>
      </p:sp>
      <p:sp>
        <p:nvSpPr>
          <p:cNvPr id="7" name="Slide Number Placeholder 6"/>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auto"/>
            <a:r>
              <a:rPr lang="en-US" strike="noStrike" noProof="1"/>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en-US"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en-US" strike="noStrike" noProof="1"/>
              <a:t>Click to edit Master text styles</a:t>
            </a:r>
          </a:p>
        </p:txBody>
      </p:sp>
      <p:sp>
        <p:nvSpPr>
          <p:cNvPr id="5" name="Date Placeholder 4"/>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6" name="Footer Placeholder 5"/>
          <p:cNvSpPr>
            <a:spLocks noGrp="1"/>
          </p:cNvSpPr>
          <p:nvPr>
            <p:ph type="ftr" sz="quarter" idx="11"/>
          </p:nvPr>
        </p:nvSpPr>
        <p:spPr/>
        <p:txBody>
          <a:bodyPr/>
          <a:lstStyle/>
          <a:p>
            <a:pPr fontAlgn="auto"/>
            <a:endParaRPr lang="en-US" strike="noStrike" noProof="1"/>
          </a:p>
        </p:txBody>
      </p:sp>
      <p:sp>
        <p:nvSpPr>
          <p:cNvPr id="7" name="Slide Number Placeholder 6"/>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4" name="Date Placeholder 3"/>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5" name="Footer Placeholder 4"/>
          <p:cNvSpPr>
            <a:spLocks noGrp="1"/>
          </p:cNvSpPr>
          <p:nvPr>
            <p:ph type="ftr" sz="quarter" idx="11"/>
          </p:nvPr>
        </p:nvSpPr>
        <p:spPr/>
        <p:txBody>
          <a:bodyPr/>
          <a:lstStyle/>
          <a:p>
            <a:pPr fontAlgn="auto"/>
            <a:endParaRPr lang="en-US" strike="noStrike" noProof="1"/>
          </a:p>
        </p:txBody>
      </p:sp>
      <p:sp>
        <p:nvSpPr>
          <p:cNvPr id="6" name="Slide Number Placeholder 5"/>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auto"/>
            <a:r>
              <a:rPr lang="en-US" strike="noStrike" noProof="1"/>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auto"/>
            <a:r>
              <a:rPr lang="en-US" strike="noStrike" noProof="1"/>
              <a:t>Click to edit Master text styles</a:t>
            </a:r>
          </a:p>
          <a:p>
            <a:pPr lvl="1" fontAlgn="auto"/>
            <a:r>
              <a:rPr lang="en-US" strike="noStrike" noProof="1"/>
              <a:t>Second level</a:t>
            </a:r>
          </a:p>
          <a:p>
            <a:pPr lvl="2" fontAlgn="auto"/>
            <a:r>
              <a:rPr lang="en-US" strike="noStrike" noProof="1"/>
              <a:t>Third level</a:t>
            </a:r>
          </a:p>
          <a:p>
            <a:pPr lvl="3" fontAlgn="auto"/>
            <a:r>
              <a:rPr lang="en-US" strike="noStrike" noProof="1"/>
              <a:t>Fourth level</a:t>
            </a:r>
          </a:p>
          <a:p>
            <a:pPr lvl="4" fontAlgn="auto"/>
            <a:r>
              <a:rPr lang="en-US" strike="noStrike" noProof="1"/>
              <a:t>Fifth level</a:t>
            </a:r>
          </a:p>
        </p:txBody>
      </p:sp>
      <p:sp>
        <p:nvSpPr>
          <p:cNvPr id="4" name="Date Placeholder 3"/>
          <p:cNvSpPr>
            <a:spLocks noGrp="1"/>
          </p:cNvSpPr>
          <p:nvPr>
            <p:ph type="dt" sz="half" idx="10"/>
          </p:nvPr>
        </p:nvSpPr>
        <p:spPr/>
        <p:txBody>
          <a:body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5" name="Footer Placeholder 4"/>
          <p:cNvSpPr>
            <a:spLocks noGrp="1"/>
          </p:cNvSpPr>
          <p:nvPr>
            <p:ph type="ftr" sz="quarter" idx="11"/>
          </p:nvPr>
        </p:nvSpPr>
        <p:spPr/>
        <p:txBody>
          <a:bodyPr/>
          <a:lstStyle/>
          <a:p>
            <a:pPr fontAlgn="auto"/>
            <a:endParaRPr lang="en-US" strike="noStrike" noProof="1"/>
          </a:p>
        </p:txBody>
      </p:sp>
      <p:sp>
        <p:nvSpPr>
          <p:cNvPr id="6" name="Slide Number Placeholder 5"/>
          <p:cNvSpPr>
            <a:spLocks noGrp="1"/>
          </p:cNvSpPr>
          <p:nvPr>
            <p:ph type="sldNum" sz="quarter" idx="12"/>
          </p:nvPr>
        </p:nvSpPr>
        <p:spPr/>
        <p:txBody>
          <a:body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
        <p:nvSpPr>
          <p:cNvPr id="7" name="Rectangle 6"/>
          <p:cNvSpPr/>
          <p:nvPr userDrawn="1"/>
        </p:nvSpPr>
        <p:spPr>
          <a:xfrm>
            <a:off x="0" y="5537200"/>
            <a:ext cx="12192000" cy="1371600"/>
          </a:xfrm>
          <a:custGeom>
            <a:avLst/>
            <a:gdLst>
              <a:gd name="connsiteX0" fmla="*/ 0 w 12192000"/>
              <a:gd name="connsiteY0" fmla="*/ 0 h 1371600"/>
              <a:gd name="connsiteX1" fmla="*/ 12192000 w 12192000"/>
              <a:gd name="connsiteY1" fmla="*/ 0 h 1371600"/>
              <a:gd name="connsiteX2" fmla="*/ 12192000 w 12192000"/>
              <a:gd name="connsiteY2" fmla="*/ 1371600 h 1371600"/>
              <a:gd name="connsiteX3" fmla="*/ 0 w 12192000"/>
              <a:gd name="connsiteY3" fmla="*/ 1371600 h 1371600"/>
              <a:gd name="connsiteX4" fmla="*/ 0 w 12192000"/>
              <a:gd name="connsiteY4" fmla="*/ 0 h 1371600"/>
              <a:gd name="connsiteX0-1" fmla="*/ 0 w 12192000"/>
              <a:gd name="connsiteY0-2" fmla="*/ 0 h 1371600"/>
              <a:gd name="connsiteX1-3" fmla="*/ 5918200 w 12192000"/>
              <a:gd name="connsiteY1-4" fmla="*/ 1295400 h 1371600"/>
              <a:gd name="connsiteX2-5" fmla="*/ 12192000 w 12192000"/>
              <a:gd name="connsiteY2-6" fmla="*/ 0 h 1371600"/>
              <a:gd name="connsiteX3-7" fmla="*/ 12192000 w 12192000"/>
              <a:gd name="connsiteY3-8" fmla="*/ 1371600 h 1371600"/>
              <a:gd name="connsiteX4-9" fmla="*/ 0 w 12192000"/>
              <a:gd name="connsiteY4-10" fmla="*/ 1371600 h 1371600"/>
              <a:gd name="connsiteX5" fmla="*/ 0 w 12192000"/>
              <a:gd name="connsiteY5" fmla="*/ 0 h 1371600"/>
              <a:gd name="connsiteX0-11" fmla="*/ 0 w 12192000"/>
              <a:gd name="connsiteY0-12" fmla="*/ 0 h 1371600"/>
              <a:gd name="connsiteX1-13" fmla="*/ 5918200 w 12192000"/>
              <a:gd name="connsiteY1-14" fmla="*/ 1041400 h 1371600"/>
              <a:gd name="connsiteX2-15" fmla="*/ 12192000 w 12192000"/>
              <a:gd name="connsiteY2-16" fmla="*/ 0 h 1371600"/>
              <a:gd name="connsiteX3-17" fmla="*/ 12192000 w 12192000"/>
              <a:gd name="connsiteY3-18" fmla="*/ 1371600 h 1371600"/>
              <a:gd name="connsiteX4-19" fmla="*/ 0 w 12192000"/>
              <a:gd name="connsiteY4-20" fmla="*/ 1371600 h 1371600"/>
              <a:gd name="connsiteX5-21" fmla="*/ 0 w 12192000"/>
              <a:gd name="connsiteY5-22" fmla="*/ 0 h 1371600"/>
              <a:gd name="connsiteX0-23" fmla="*/ 0 w 12192000"/>
              <a:gd name="connsiteY0-24" fmla="*/ 0 h 1371600"/>
              <a:gd name="connsiteX1-25" fmla="*/ 5918200 w 12192000"/>
              <a:gd name="connsiteY1-26" fmla="*/ 1041400 h 1371600"/>
              <a:gd name="connsiteX2-27" fmla="*/ 12192000 w 12192000"/>
              <a:gd name="connsiteY2-28" fmla="*/ 0 h 1371600"/>
              <a:gd name="connsiteX3-29" fmla="*/ 12192000 w 12192000"/>
              <a:gd name="connsiteY3-30" fmla="*/ 1371600 h 1371600"/>
              <a:gd name="connsiteX4-31" fmla="*/ 0 w 12192000"/>
              <a:gd name="connsiteY4-32" fmla="*/ 1371600 h 1371600"/>
              <a:gd name="connsiteX5-33" fmla="*/ 0 w 12192000"/>
              <a:gd name="connsiteY5-34" fmla="*/ 0 h 1371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2192000" h="1371600">
                <a:moveTo>
                  <a:pt x="0" y="0"/>
                </a:moveTo>
                <a:cubicBezTo>
                  <a:pt x="1782233" y="0"/>
                  <a:pt x="4174067" y="838200"/>
                  <a:pt x="5918200" y="1041400"/>
                </a:cubicBezTo>
                <a:lnTo>
                  <a:pt x="12192000" y="0"/>
                </a:lnTo>
                <a:lnTo>
                  <a:pt x="12192000" y="1371600"/>
                </a:lnTo>
                <a:lnTo>
                  <a:pt x="0" y="1371600"/>
                </a:lnTo>
                <a:lnTo>
                  <a:pt x="0" y="0"/>
                </a:lnTo>
                <a:close/>
              </a:path>
            </a:pathLst>
          </a:custGeom>
          <a:solidFill>
            <a:schemeClr val="accent6">
              <a:lumMod val="40000"/>
              <a:lumOff val="6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a:solidFill>
                <a:prstClr val="white"/>
              </a:solidFill>
            </a:endParaRPr>
          </a:p>
        </p:txBody>
      </p:sp>
    </p:spTree>
    <p:extLst>
      <p:ext uri="{BB962C8B-B14F-4D97-AF65-F5344CB8AC3E}">
        <p14:creationId xmlns:p14="http://schemas.microsoft.com/office/powerpoint/2010/main" val="3535707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
        <p:nvSpPr>
          <p:cNvPr id="7" name="Rectangle 6"/>
          <p:cNvSpPr/>
          <p:nvPr userDrawn="1"/>
        </p:nvSpPr>
        <p:spPr>
          <a:xfrm>
            <a:off x="0" y="5778500"/>
            <a:ext cx="12192000" cy="1143000"/>
          </a:xfrm>
          <a:custGeom>
            <a:avLst/>
            <a:gdLst>
              <a:gd name="connsiteX0" fmla="*/ 0 w 12192000"/>
              <a:gd name="connsiteY0" fmla="*/ 0 h 1143000"/>
              <a:gd name="connsiteX1" fmla="*/ 12192000 w 12192000"/>
              <a:gd name="connsiteY1" fmla="*/ 0 h 1143000"/>
              <a:gd name="connsiteX2" fmla="*/ 12192000 w 12192000"/>
              <a:gd name="connsiteY2" fmla="*/ 1143000 h 1143000"/>
              <a:gd name="connsiteX3" fmla="*/ 0 w 12192000"/>
              <a:gd name="connsiteY3" fmla="*/ 1143000 h 1143000"/>
              <a:gd name="connsiteX4" fmla="*/ 0 w 12192000"/>
              <a:gd name="connsiteY4" fmla="*/ 0 h 1143000"/>
              <a:gd name="connsiteX0-1" fmla="*/ 0 w 12192000"/>
              <a:gd name="connsiteY0-2" fmla="*/ 0 h 1143000"/>
              <a:gd name="connsiteX1-3" fmla="*/ 5473700 w 12192000"/>
              <a:gd name="connsiteY1-4" fmla="*/ 0 h 1143000"/>
              <a:gd name="connsiteX2-5" fmla="*/ 12192000 w 12192000"/>
              <a:gd name="connsiteY2-6" fmla="*/ 0 h 1143000"/>
              <a:gd name="connsiteX3-7" fmla="*/ 12192000 w 12192000"/>
              <a:gd name="connsiteY3-8" fmla="*/ 1143000 h 1143000"/>
              <a:gd name="connsiteX4-9" fmla="*/ 0 w 12192000"/>
              <a:gd name="connsiteY4-10" fmla="*/ 1143000 h 1143000"/>
              <a:gd name="connsiteX5" fmla="*/ 0 w 12192000"/>
              <a:gd name="connsiteY5" fmla="*/ 0 h 1143000"/>
              <a:gd name="connsiteX0-11" fmla="*/ 0 w 12192000"/>
              <a:gd name="connsiteY0-12" fmla="*/ 24 h 1143024"/>
              <a:gd name="connsiteX1-13" fmla="*/ 5473700 w 12192000"/>
              <a:gd name="connsiteY1-14" fmla="*/ 24 h 1143024"/>
              <a:gd name="connsiteX2-15" fmla="*/ 5727700 w 12192000"/>
              <a:gd name="connsiteY2-16" fmla="*/ 546124 h 1143024"/>
              <a:gd name="connsiteX3-17" fmla="*/ 12192000 w 12192000"/>
              <a:gd name="connsiteY3-18" fmla="*/ 24 h 1143024"/>
              <a:gd name="connsiteX4-19" fmla="*/ 12192000 w 12192000"/>
              <a:gd name="connsiteY4-20" fmla="*/ 1143024 h 1143024"/>
              <a:gd name="connsiteX5-21" fmla="*/ 0 w 12192000"/>
              <a:gd name="connsiteY5-22" fmla="*/ 1143024 h 1143024"/>
              <a:gd name="connsiteX6" fmla="*/ 0 w 12192000"/>
              <a:gd name="connsiteY6" fmla="*/ 24 h 1143024"/>
              <a:gd name="connsiteX0-23" fmla="*/ 0 w 12192000"/>
              <a:gd name="connsiteY0-24" fmla="*/ 0 h 1143000"/>
              <a:gd name="connsiteX1-25" fmla="*/ 5588000 w 12192000"/>
              <a:gd name="connsiteY1-26" fmla="*/ 558800 h 1143000"/>
              <a:gd name="connsiteX2-27" fmla="*/ 5727700 w 12192000"/>
              <a:gd name="connsiteY2-28" fmla="*/ 546100 h 1143000"/>
              <a:gd name="connsiteX3-29" fmla="*/ 12192000 w 12192000"/>
              <a:gd name="connsiteY3-30" fmla="*/ 0 h 1143000"/>
              <a:gd name="connsiteX4-31" fmla="*/ 12192000 w 12192000"/>
              <a:gd name="connsiteY4-32" fmla="*/ 1143000 h 1143000"/>
              <a:gd name="connsiteX5-33" fmla="*/ 0 w 12192000"/>
              <a:gd name="connsiteY5-34" fmla="*/ 1143000 h 1143000"/>
              <a:gd name="connsiteX6-35" fmla="*/ 0 w 12192000"/>
              <a:gd name="connsiteY6-3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12192000" h="1143000">
                <a:moveTo>
                  <a:pt x="0" y="0"/>
                </a:moveTo>
                <a:lnTo>
                  <a:pt x="5588000" y="558800"/>
                </a:lnTo>
                <a:cubicBezTo>
                  <a:pt x="5651500" y="554567"/>
                  <a:pt x="5664200" y="550333"/>
                  <a:pt x="5727700" y="546100"/>
                </a:cubicBezTo>
                <a:lnTo>
                  <a:pt x="12192000" y="0"/>
                </a:lnTo>
                <a:lnTo>
                  <a:pt x="12192000" y="1143000"/>
                </a:lnTo>
                <a:lnTo>
                  <a:pt x="0" y="1143000"/>
                </a:lnTo>
                <a:lnTo>
                  <a:pt x="0" y="0"/>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a:solidFill>
                <a:prstClr val="white"/>
              </a:solidFill>
            </a:endParaRPr>
          </a:p>
        </p:txBody>
      </p:sp>
      <p:sp>
        <p:nvSpPr>
          <p:cNvPr id="10" name="Rectangle 4"/>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fontAlgn="auto">
              <a:spcBef>
                <a:spcPts val="0"/>
              </a:spcBef>
              <a:spcAft>
                <a:spcPts val="0"/>
              </a:spcAft>
            </a:pPr>
            <a:endParaRPr lang="en-GB">
              <a:solidFill>
                <a:prstClr val="black"/>
              </a:solidFill>
              <a:latin typeface="Calibri"/>
            </a:endParaRPr>
          </a:p>
        </p:txBody>
      </p:sp>
      <p:pic>
        <p:nvPicPr>
          <p:cNvPr id="2052" name="Picture 2048" descr="image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5664200"/>
            <a:ext cx="10890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6314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44390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
        <p:nvSpPr>
          <p:cNvPr id="8" name="Rectangle 6"/>
          <p:cNvSpPr/>
          <p:nvPr userDrawn="1"/>
        </p:nvSpPr>
        <p:spPr>
          <a:xfrm>
            <a:off x="0" y="5778500"/>
            <a:ext cx="12192000" cy="1143000"/>
          </a:xfrm>
          <a:custGeom>
            <a:avLst/>
            <a:gdLst>
              <a:gd name="connsiteX0" fmla="*/ 0 w 12192000"/>
              <a:gd name="connsiteY0" fmla="*/ 0 h 1143000"/>
              <a:gd name="connsiteX1" fmla="*/ 12192000 w 12192000"/>
              <a:gd name="connsiteY1" fmla="*/ 0 h 1143000"/>
              <a:gd name="connsiteX2" fmla="*/ 12192000 w 12192000"/>
              <a:gd name="connsiteY2" fmla="*/ 1143000 h 1143000"/>
              <a:gd name="connsiteX3" fmla="*/ 0 w 12192000"/>
              <a:gd name="connsiteY3" fmla="*/ 1143000 h 1143000"/>
              <a:gd name="connsiteX4" fmla="*/ 0 w 12192000"/>
              <a:gd name="connsiteY4" fmla="*/ 0 h 1143000"/>
              <a:gd name="connsiteX0-1" fmla="*/ 0 w 12192000"/>
              <a:gd name="connsiteY0-2" fmla="*/ 0 h 1143000"/>
              <a:gd name="connsiteX1-3" fmla="*/ 5473700 w 12192000"/>
              <a:gd name="connsiteY1-4" fmla="*/ 0 h 1143000"/>
              <a:gd name="connsiteX2-5" fmla="*/ 12192000 w 12192000"/>
              <a:gd name="connsiteY2-6" fmla="*/ 0 h 1143000"/>
              <a:gd name="connsiteX3-7" fmla="*/ 12192000 w 12192000"/>
              <a:gd name="connsiteY3-8" fmla="*/ 1143000 h 1143000"/>
              <a:gd name="connsiteX4-9" fmla="*/ 0 w 12192000"/>
              <a:gd name="connsiteY4-10" fmla="*/ 1143000 h 1143000"/>
              <a:gd name="connsiteX5" fmla="*/ 0 w 12192000"/>
              <a:gd name="connsiteY5" fmla="*/ 0 h 1143000"/>
              <a:gd name="connsiteX0-11" fmla="*/ 0 w 12192000"/>
              <a:gd name="connsiteY0-12" fmla="*/ 24 h 1143024"/>
              <a:gd name="connsiteX1-13" fmla="*/ 5473700 w 12192000"/>
              <a:gd name="connsiteY1-14" fmla="*/ 24 h 1143024"/>
              <a:gd name="connsiteX2-15" fmla="*/ 5727700 w 12192000"/>
              <a:gd name="connsiteY2-16" fmla="*/ 546124 h 1143024"/>
              <a:gd name="connsiteX3-17" fmla="*/ 12192000 w 12192000"/>
              <a:gd name="connsiteY3-18" fmla="*/ 24 h 1143024"/>
              <a:gd name="connsiteX4-19" fmla="*/ 12192000 w 12192000"/>
              <a:gd name="connsiteY4-20" fmla="*/ 1143024 h 1143024"/>
              <a:gd name="connsiteX5-21" fmla="*/ 0 w 12192000"/>
              <a:gd name="connsiteY5-22" fmla="*/ 1143024 h 1143024"/>
              <a:gd name="connsiteX6" fmla="*/ 0 w 12192000"/>
              <a:gd name="connsiteY6" fmla="*/ 24 h 1143024"/>
              <a:gd name="connsiteX0-23" fmla="*/ 0 w 12192000"/>
              <a:gd name="connsiteY0-24" fmla="*/ 0 h 1143000"/>
              <a:gd name="connsiteX1-25" fmla="*/ 5588000 w 12192000"/>
              <a:gd name="connsiteY1-26" fmla="*/ 558800 h 1143000"/>
              <a:gd name="connsiteX2-27" fmla="*/ 5727700 w 12192000"/>
              <a:gd name="connsiteY2-28" fmla="*/ 546100 h 1143000"/>
              <a:gd name="connsiteX3-29" fmla="*/ 12192000 w 12192000"/>
              <a:gd name="connsiteY3-30" fmla="*/ 0 h 1143000"/>
              <a:gd name="connsiteX4-31" fmla="*/ 12192000 w 12192000"/>
              <a:gd name="connsiteY4-32" fmla="*/ 1143000 h 1143000"/>
              <a:gd name="connsiteX5-33" fmla="*/ 0 w 12192000"/>
              <a:gd name="connsiteY5-34" fmla="*/ 1143000 h 1143000"/>
              <a:gd name="connsiteX6-35" fmla="*/ 0 w 12192000"/>
              <a:gd name="connsiteY6-3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12192000" h="1143000">
                <a:moveTo>
                  <a:pt x="0" y="0"/>
                </a:moveTo>
                <a:lnTo>
                  <a:pt x="5588000" y="558800"/>
                </a:lnTo>
                <a:cubicBezTo>
                  <a:pt x="5651500" y="554567"/>
                  <a:pt x="5664200" y="550333"/>
                  <a:pt x="5727700" y="546100"/>
                </a:cubicBezTo>
                <a:lnTo>
                  <a:pt x="12192000" y="0"/>
                </a:lnTo>
                <a:lnTo>
                  <a:pt x="12192000" y="1143000"/>
                </a:lnTo>
                <a:lnTo>
                  <a:pt x="0" y="1143000"/>
                </a:lnTo>
                <a:lnTo>
                  <a:pt x="0" y="0"/>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a:solidFill>
                <a:prstClr val="white"/>
              </a:solidFill>
            </a:endParaRPr>
          </a:p>
        </p:txBody>
      </p:sp>
      <p:pic>
        <p:nvPicPr>
          <p:cNvPr id="3076" name="Picture 3072" descr="image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5664200"/>
            <a:ext cx="10890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2752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
        <p:nvSpPr>
          <p:cNvPr id="10" name="Rectangle 6"/>
          <p:cNvSpPr/>
          <p:nvPr userDrawn="1"/>
        </p:nvSpPr>
        <p:spPr>
          <a:xfrm>
            <a:off x="0" y="5778500"/>
            <a:ext cx="12192000" cy="1143000"/>
          </a:xfrm>
          <a:custGeom>
            <a:avLst/>
            <a:gdLst>
              <a:gd name="connsiteX0" fmla="*/ 0 w 12192000"/>
              <a:gd name="connsiteY0" fmla="*/ 0 h 1143000"/>
              <a:gd name="connsiteX1" fmla="*/ 12192000 w 12192000"/>
              <a:gd name="connsiteY1" fmla="*/ 0 h 1143000"/>
              <a:gd name="connsiteX2" fmla="*/ 12192000 w 12192000"/>
              <a:gd name="connsiteY2" fmla="*/ 1143000 h 1143000"/>
              <a:gd name="connsiteX3" fmla="*/ 0 w 12192000"/>
              <a:gd name="connsiteY3" fmla="*/ 1143000 h 1143000"/>
              <a:gd name="connsiteX4" fmla="*/ 0 w 12192000"/>
              <a:gd name="connsiteY4" fmla="*/ 0 h 1143000"/>
              <a:gd name="connsiteX0-1" fmla="*/ 0 w 12192000"/>
              <a:gd name="connsiteY0-2" fmla="*/ 0 h 1143000"/>
              <a:gd name="connsiteX1-3" fmla="*/ 5473700 w 12192000"/>
              <a:gd name="connsiteY1-4" fmla="*/ 0 h 1143000"/>
              <a:gd name="connsiteX2-5" fmla="*/ 12192000 w 12192000"/>
              <a:gd name="connsiteY2-6" fmla="*/ 0 h 1143000"/>
              <a:gd name="connsiteX3-7" fmla="*/ 12192000 w 12192000"/>
              <a:gd name="connsiteY3-8" fmla="*/ 1143000 h 1143000"/>
              <a:gd name="connsiteX4-9" fmla="*/ 0 w 12192000"/>
              <a:gd name="connsiteY4-10" fmla="*/ 1143000 h 1143000"/>
              <a:gd name="connsiteX5" fmla="*/ 0 w 12192000"/>
              <a:gd name="connsiteY5" fmla="*/ 0 h 1143000"/>
              <a:gd name="connsiteX0-11" fmla="*/ 0 w 12192000"/>
              <a:gd name="connsiteY0-12" fmla="*/ 24 h 1143024"/>
              <a:gd name="connsiteX1-13" fmla="*/ 5473700 w 12192000"/>
              <a:gd name="connsiteY1-14" fmla="*/ 24 h 1143024"/>
              <a:gd name="connsiteX2-15" fmla="*/ 5727700 w 12192000"/>
              <a:gd name="connsiteY2-16" fmla="*/ 546124 h 1143024"/>
              <a:gd name="connsiteX3-17" fmla="*/ 12192000 w 12192000"/>
              <a:gd name="connsiteY3-18" fmla="*/ 24 h 1143024"/>
              <a:gd name="connsiteX4-19" fmla="*/ 12192000 w 12192000"/>
              <a:gd name="connsiteY4-20" fmla="*/ 1143024 h 1143024"/>
              <a:gd name="connsiteX5-21" fmla="*/ 0 w 12192000"/>
              <a:gd name="connsiteY5-22" fmla="*/ 1143024 h 1143024"/>
              <a:gd name="connsiteX6" fmla="*/ 0 w 12192000"/>
              <a:gd name="connsiteY6" fmla="*/ 24 h 1143024"/>
              <a:gd name="connsiteX0-23" fmla="*/ 0 w 12192000"/>
              <a:gd name="connsiteY0-24" fmla="*/ 0 h 1143000"/>
              <a:gd name="connsiteX1-25" fmla="*/ 5588000 w 12192000"/>
              <a:gd name="connsiteY1-26" fmla="*/ 558800 h 1143000"/>
              <a:gd name="connsiteX2-27" fmla="*/ 5727700 w 12192000"/>
              <a:gd name="connsiteY2-28" fmla="*/ 546100 h 1143000"/>
              <a:gd name="connsiteX3-29" fmla="*/ 12192000 w 12192000"/>
              <a:gd name="connsiteY3-30" fmla="*/ 0 h 1143000"/>
              <a:gd name="connsiteX4-31" fmla="*/ 12192000 w 12192000"/>
              <a:gd name="connsiteY4-32" fmla="*/ 1143000 h 1143000"/>
              <a:gd name="connsiteX5-33" fmla="*/ 0 w 12192000"/>
              <a:gd name="connsiteY5-34" fmla="*/ 1143000 h 1143000"/>
              <a:gd name="connsiteX6-35" fmla="*/ 0 w 12192000"/>
              <a:gd name="connsiteY6-36" fmla="*/ 0 h 1143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12192000" h="1143000">
                <a:moveTo>
                  <a:pt x="0" y="0"/>
                </a:moveTo>
                <a:lnTo>
                  <a:pt x="5588000" y="558800"/>
                </a:lnTo>
                <a:cubicBezTo>
                  <a:pt x="5651500" y="554567"/>
                  <a:pt x="5664200" y="550333"/>
                  <a:pt x="5727700" y="546100"/>
                </a:cubicBezTo>
                <a:lnTo>
                  <a:pt x="12192000" y="0"/>
                </a:lnTo>
                <a:lnTo>
                  <a:pt x="12192000" y="1143000"/>
                </a:lnTo>
                <a:lnTo>
                  <a:pt x="0" y="1143000"/>
                </a:lnTo>
                <a:lnTo>
                  <a:pt x="0" y="0"/>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a:solidFill>
                <a:prstClr val="white"/>
              </a:solidFill>
            </a:endParaRPr>
          </a:p>
        </p:txBody>
      </p:sp>
      <p:pic>
        <p:nvPicPr>
          <p:cNvPr id="4100" name="Picture 4096" descr="image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5664200"/>
            <a:ext cx="10890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0214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71121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58173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193194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63092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2164166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97DF12C-5E6C-4AEA-9E40-11D0F7F30010}" type="datetimeFigureOut">
              <a:rPr lang="en-GB" smtClean="0">
                <a:solidFill>
                  <a:prstClr val="black">
                    <a:tint val="75000"/>
                  </a:prstClr>
                </a:solidFill>
              </a:rPr>
              <a:pPr/>
              <a:t>12/02/2025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AB987CA8-3AEB-4F28-8134-64128DC49090}"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39200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vert="horz" lIns="91440" tIns="45720" rIns="91440" bIns="45720" anchor="ctr" anchorCtr="0"/>
          <a:lstStyle/>
          <a:p>
            <a:pPr lvl="0"/>
            <a:r>
              <a:rPr lang="en-US" altLang="zh-CN"/>
              <a:t>Click to edit Master title style</a:t>
            </a:r>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vert="horz" lIns="91440" tIns="45720" rIns="91440" bIns="45720" anchor="t" anchorCtr="0"/>
          <a:lstStyle/>
          <a:p>
            <a:pPr lvl="0"/>
            <a:r>
              <a:rPr lang="en-US" altLang="zh-CN"/>
              <a:t>Click to edit Master text styles</a:t>
            </a:r>
          </a:p>
          <a:p>
            <a:pPr lvl="1" indent="-228600"/>
            <a:r>
              <a:rPr lang="en-US" altLang="zh-CN"/>
              <a:t>Second level</a:t>
            </a:r>
          </a:p>
          <a:p>
            <a:pPr lvl="2" indent="-228600"/>
            <a:r>
              <a:rPr lang="en-US" altLang="zh-CN"/>
              <a:t>Third level</a:t>
            </a:r>
          </a:p>
          <a:p>
            <a:pPr lvl="3" indent="-228600"/>
            <a:r>
              <a:rPr lang="en-US" altLang="zh-CN"/>
              <a:t>Fourth level</a:t>
            </a:r>
          </a:p>
          <a:p>
            <a:pPr lvl="4" indent="-228600"/>
            <a:r>
              <a:rPr lang="en-US" altLang="zh-CN"/>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fld id="{F5D137C3-365E-44A8-8DF8-DAA30BC08D18}" type="datetimeFigureOut">
              <a:rPr lang="en-US" strike="noStrike" noProof="1" smtClean="0">
                <a:latin typeface="+mn-lt"/>
                <a:ea typeface="+mn-ea"/>
                <a:cs typeface="+mn-cs"/>
              </a:rPr>
              <a:pPr fontAlgn="auto"/>
              <a:t>2/12/2025</a:t>
            </a:fld>
            <a:endParaRPr lang="en-US" strike="noStrike" noProof="1"/>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endParaRPr lang="en-US" strike="noStrike" noProof="1"/>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fld id="{3A403E7B-6C31-4BA1-9F67-50A12BEB77BA}" type="slidenum">
              <a:rPr lang="en-US" strike="noStrike" noProof="1" smtClean="0">
                <a:latin typeface="+mn-lt"/>
                <a:ea typeface="+mn-ea"/>
                <a:cs typeface="+mn-cs"/>
              </a:rPr>
              <a:pPr fontAlgn="auto"/>
              <a:t>‹#›</a:t>
            </a:fld>
            <a:endParaRPr 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random/>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297DF12C-5E6C-4AEA-9E40-11D0F7F30010}" type="datetimeFigureOut">
              <a:rPr lang="en-GB" smtClean="0">
                <a:solidFill>
                  <a:prstClr val="black">
                    <a:tint val="75000"/>
                  </a:prstClr>
                </a:solidFill>
                <a:latin typeface="Calibri"/>
              </a:rPr>
              <a:pPr fontAlgn="auto">
                <a:spcBef>
                  <a:spcPts val="0"/>
                </a:spcBef>
                <a:spcAft>
                  <a:spcPts val="0"/>
                </a:spcAft>
              </a:pPr>
              <a:t>12/02/2025</a:t>
            </a:fld>
            <a:endParaRPr lang="en-GB">
              <a:solidFill>
                <a:prstClr val="black">
                  <a:tint val="75000"/>
                </a:prstClr>
              </a:solidFill>
              <a:latin typeface="Calibri"/>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GB">
              <a:solidFill>
                <a:prstClr val="black">
                  <a:tint val="75000"/>
                </a:prstClr>
              </a:solidFill>
              <a:latin typeface="Calibri"/>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AB987CA8-3AEB-4F28-8134-64128DC49090}" type="slidenum">
              <a:rPr lang="en-GB" smtClean="0">
                <a:solidFill>
                  <a:prstClr val="black">
                    <a:tint val="75000"/>
                  </a:prstClr>
                </a:solidFill>
                <a:latin typeface="Calibri"/>
              </a:rPr>
              <a:pPr fontAlgn="auto">
                <a:spcBef>
                  <a:spcPts val="0"/>
                </a:spcBef>
                <a:spcAft>
                  <a:spcPts val="0"/>
                </a:spcAft>
              </a:pPr>
              <a:t>‹#›</a:t>
            </a:fld>
            <a:endParaRPr lang="en-GB">
              <a:solidFill>
                <a:prstClr val="black">
                  <a:tint val="75000"/>
                </a:prstClr>
              </a:solidFill>
              <a:latin typeface="Calibri"/>
            </a:endParaRPr>
          </a:p>
        </p:txBody>
      </p:sp>
      <p:sp>
        <p:nvSpPr>
          <p:cNvPr id="7" name="Rectangle 6"/>
          <p:cNvSpPr/>
          <p:nvPr userDrawn="1"/>
        </p:nvSpPr>
        <p:spPr>
          <a:xfrm>
            <a:off x="0" y="5537200"/>
            <a:ext cx="12192000" cy="1371600"/>
          </a:xfrm>
          <a:custGeom>
            <a:avLst/>
            <a:gdLst>
              <a:gd name="connsiteX0" fmla="*/ 0 w 12192000"/>
              <a:gd name="connsiteY0" fmla="*/ 0 h 1371600"/>
              <a:gd name="connsiteX1" fmla="*/ 12192000 w 12192000"/>
              <a:gd name="connsiteY1" fmla="*/ 0 h 1371600"/>
              <a:gd name="connsiteX2" fmla="*/ 12192000 w 12192000"/>
              <a:gd name="connsiteY2" fmla="*/ 1371600 h 1371600"/>
              <a:gd name="connsiteX3" fmla="*/ 0 w 12192000"/>
              <a:gd name="connsiteY3" fmla="*/ 1371600 h 1371600"/>
              <a:gd name="connsiteX4" fmla="*/ 0 w 12192000"/>
              <a:gd name="connsiteY4" fmla="*/ 0 h 1371600"/>
              <a:gd name="connsiteX0-1" fmla="*/ 0 w 12192000"/>
              <a:gd name="connsiteY0-2" fmla="*/ 0 h 1371600"/>
              <a:gd name="connsiteX1-3" fmla="*/ 5918200 w 12192000"/>
              <a:gd name="connsiteY1-4" fmla="*/ 1295400 h 1371600"/>
              <a:gd name="connsiteX2-5" fmla="*/ 12192000 w 12192000"/>
              <a:gd name="connsiteY2-6" fmla="*/ 0 h 1371600"/>
              <a:gd name="connsiteX3-7" fmla="*/ 12192000 w 12192000"/>
              <a:gd name="connsiteY3-8" fmla="*/ 1371600 h 1371600"/>
              <a:gd name="connsiteX4-9" fmla="*/ 0 w 12192000"/>
              <a:gd name="connsiteY4-10" fmla="*/ 1371600 h 1371600"/>
              <a:gd name="connsiteX5" fmla="*/ 0 w 12192000"/>
              <a:gd name="connsiteY5" fmla="*/ 0 h 1371600"/>
              <a:gd name="connsiteX0-11" fmla="*/ 0 w 12192000"/>
              <a:gd name="connsiteY0-12" fmla="*/ 0 h 1371600"/>
              <a:gd name="connsiteX1-13" fmla="*/ 5918200 w 12192000"/>
              <a:gd name="connsiteY1-14" fmla="*/ 1041400 h 1371600"/>
              <a:gd name="connsiteX2-15" fmla="*/ 12192000 w 12192000"/>
              <a:gd name="connsiteY2-16" fmla="*/ 0 h 1371600"/>
              <a:gd name="connsiteX3-17" fmla="*/ 12192000 w 12192000"/>
              <a:gd name="connsiteY3-18" fmla="*/ 1371600 h 1371600"/>
              <a:gd name="connsiteX4-19" fmla="*/ 0 w 12192000"/>
              <a:gd name="connsiteY4-20" fmla="*/ 1371600 h 1371600"/>
              <a:gd name="connsiteX5-21" fmla="*/ 0 w 12192000"/>
              <a:gd name="connsiteY5-22" fmla="*/ 0 h 1371600"/>
              <a:gd name="connsiteX0-23" fmla="*/ 0 w 12192000"/>
              <a:gd name="connsiteY0-24" fmla="*/ 0 h 1371600"/>
              <a:gd name="connsiteX1-25" fmla="*/ 5918200 w 12192000"/>
              <a:gd name="connsiteY1-26" fmla="*/ 1041400 h 1371600"/>
              <a:gd name="connsiteX2-27" fmla="*/ 12192000 w 12192000"/>
              <a:gd name="connsiteY2-28" fmla="*/ 0 h 1371600"/>
              <a:gd name="connsiteX3-29" fmla="*/ 12192000 w 12192000"/>
              <a:gd name="connsiteY3-30" fmla="*/ 1371600 h 1371600"/>
              <a:gd name="connsiteX4-31" fmla="*/ 0 w 12192000"/>
              <a:gd name="connsiteY4-32" fmla="*/ 1371600 h 1371600"/>
              <a:gd name="connsiteX5-33" fmla="*/ 0 w 12192000"/>
              <a:gd name="connsiteY5-34" fmla="*/ 0 h 1371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2192000" h="1371600">
                <a:moveTo>
                  <a:pt x="0" y="0"/>
                </a:moveTo>
                <a:cubicBezTo>
                  <a:pt x="1782233" y="0"/>
                  <a:pt x="4174067" y="838200"/>
                  <a:pt x="5918200" y="1041400"/>
                </a:cubicBezTo>
                <a:lnTo>
                  <a:pt x="12192000" y="0"/>
                </a:lnTo>
                <a:lnTo>
                  <a:pt x="12192000" y="1371600"/>
                </a:lnTo>
                <a:lnTo>
                  <a:pt x="0" y="1371600"/>
                </a:lnTo>
                <a:lnTo>
                  <a:pt x="0" y="0"/>
                </a:lnTo>
                <a:close/>
              </a:path>
            </a:pathLst>
          </a:custGeom>
          <a:solidFill>
            <a:schemeClr val="accent6">
              <a:lumMod val="40000"/>
              <a:lumOff val="6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a:solidFill>
                <a:prstClr val="white"/>
              </a:solidFill>
            </a:endParaRPr>
          </a:p>
        </p:txBody>
      </p:sp>
      <p:pic>
        <p:nvPicPr>
          <p:cNvPr id="1028" name="Picture 1024" descr="image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181600" y="5664200"/>
            <a:ext cx="10890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19727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29000">
              <a:schemeClr val="bg1"/>
            </a:gs>
            <a:gs pos="10000">
              <a:schemeClr val="bg1"/>
            </a:gs>
            <a:gs pos="16000">
              <a:schemeClr val="accent1">
                <a:lumMod val="45000"/>
                <a:lumOff val="55000"/>
              </a:schemeClr>
            </a:gs>
            <a:gs pos="16817">
              <a:srgbClr val="E1EDF7"/>
            </a:gs>
            <a:gs pos="41000">
              <a:schemeClr val="accent6">
                <a:lumMod val="20000"/>
                <a:lumOff val="80000"/>
              </a:schemeClr>
            </a:gs>
          </a:gsLst>
          <a:path path="circle">
            <a:fillToRect l="100000" t="100000"/>
          </a:path>
        </a:gradFill>
        <a:effectLst/>
      </p:bgPr>
    </p:bg>
    <p:spTree>
      <p:nvGrpSpPr>
        <p:cNvPr id="1" name="">
          <a:extLst>
            <a:ext uri="{FF2B5EF4-FFF2-40B4-BE49-F238E27FC236}">
              <a16:creationId xmlns:a16="http://schemas.microsoft.com/office/drawing/2014/main" id="{3B3C4DEC-E426-3B94-CC83-016260DD3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1E524-CCD1-2F76-2796-D4071578B08C}"/>
              </a:ext>
            </a:extLst>
          </p:cNvPr>
          <p:cNvSpPr>
            <a:spLocks noGrp="1"/>
          </p:cNvSpPr>
          <p:nvPr>
            <p:ph type="title"/>
          </p:nvPr>
        </p:nvSpPr>
        <p:spPr>
          <a:xfrm>
            <a:off x="838200" y="650875"/>
            <a:ext cx="10515600" cy="4606925"/>
          </a:xfrm>
          <a:gradFill>
            <a:gsLst>
              <a:gs pos="45000">
                <a:schemeClr val="bg1"/>
              </a:gs>
              <a:gs pos="10000">
                <a:schemeClr val="bg1"/>
              </a:gs>
              <a:gs pos="16000">
                <a:schemeClr val="accent1">
                  <a:lumMod val="45000"/>
                  <a:lumOff val="55000"/>
                </a:schemeClr>
              </a:gs>
              <a:gs pos="31000">
                <a:srgbClr val="E1EDF7"/>
              </a:gs>
              <a:gs pos="44000">
                <a:schemeClr val="accent6">
                  <a:lumMod val="20000"/>
                  <a:lumOff val="80000"/>
                </a:schemeClr>
              </a:gs>
            </a:gsLst>
            <a:path path="circle">
              <a:fillToRect l="100000" t="100000"/>
            </a:path>
          </a:gra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a:normAutofit/>
          </a:bodyPr>
          <a:lstStyle/>
          <a:p>
            <a:pPr algn="ctr"/>
            <a:br>
              <a:rPr lang="en-US" altLang="zh-CN" sz="4800" b="1" dirty="0"/>
            </a:br>
            <a:r>
              <a:rPr lang="en-US" altLang="zh-CN" sz="6000" b="1" i="1" dirty="0"/>
              <a:t>May/June LMD 2023 Distribution Cycle</a:t>
            </a:r>
            <a:r>
              <a:rPr lang="en-US" altLang="en-US" sz="3600" b="1" i="1" dirty="0"/>
              <a:t> </a:t>
            </a:r>
            <a:br>
              <a:rPr lang="en-US" altLang="en-US" sz="4800" b="1" i="1" dirty="0"/>
            </a:br>
            <a:endParaRPr lang="en-US" sz="4800" b="1" dirty="0"/>
          </a:p>
        </p:txBody>
      </p:sp>
      <p:sp>
        <p:nvSpPr>
          <p:cNvPr id="3" name="Content Placeholder 2">
            <a:extLst>
              <a:ext uri="{FF2B5EF4-FFF2-40B4-BE49-F238E27FC236}">
                <a16:creationId xmlns:a16="http://schemas.microsoft.com/office/drawing/2014/main" id="{B260BF8B-5905-B64F-CFBE-2D8E683617A6}"/>
              </a:ext>
            </a:extLst>
          </p:cNvPr>
          <p:cNvSpPr>
            <a:spLocks noGrp="1"/>
          </p:cNvSpPr>
          <p:nvPr>
            <p:ph idx="1"/>
          </p:nvPr>
        </p:nvSpPr>
        <p:spPr>
          <a:xfrm>
            <a:off x="1421130" y="5257800"/>
            <a:ext cx="10515600" cy="728663"/>
          </a:xfrm>
        </p:spPr>
        <p:txBody>
          <a:bodyPr>
            <a:normAutofit/>
          </a:bodyPr>
          <a:lstStyle/>
          <a:p>
            <a:pPr>
              <a:buNone/>
            </a:pPr>
            <a:endParaRPr lang="en-US" altLang="en-US" b="1" i="1" dirty="0">
              <a:solidFill>
                <a:srgbClr val="BF3611"/>
              </a:solidFill>
            </a:endParaRPr>
          </a:p>
          <a:p>
            <a:endParaRPr lang="en-US" dirty="0"/>
          </a:p>
        </p:txBody>
      </p:sp>
    </p:spTree>
    <p:extLst>
      <p:ext uri="{BB962C8B-B14F-4D97-AF65-F5344CB8AC3E}">
        <p14:creationId xmlns:p14="http://schemas.microsoft.com/office/powerpoint/2010/main" val="453726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OUTLINE OF PRESENTATION</a:t>
            </a:r>
            <a:endParaRPr lang="en-US" dirty="0"/>
          </a:p>
        </p:txBody>
      </p:sp>
      <p:sp>
        <p:nvSpPr>
          <p:cNvPr id="3" name="Content Placeholder 2"/>
          <p:cNvSpPr>
            <a:spLocks noGrp="1"/>
          </p:cNvSpPr>
          <p:nvPr>
            <p:ph idx="1"/>
          </p:nvPr>
        </p:nvSpPr>
        <p:spPr>
          <a:noFill/>
          <a:ln>
            <a:solidFill>
              <a:schemeClr val="bg1"/>
            </a:solidFill>
          </a:ln>
          <a:scene3d>
            <a:camera prst="orthographicFront"/>
            <a:lightRig rig="sunset" dir="t"/>
          </a:scene3d>
        </p:spPr>
        <p:txBody>
          <a:bodyPr/>
          <a:lstStyle/>
          <a:p>
            <a:pPr>
              <a:buFont typeface="Wingdings" panose="05000000000000000000" pitchFamily="2" charset="2"/>
              <a:buChar char="q"/>
            </a:pPr>
            <a:r>
              <a:rPr lang="en-US" dirty="0"/>
              <a:t> METHODOLOGY</a:t>
            </a:r>
          </a:p>
          <a:p>
            <a:pPr>
              <a:buFont typeface="Wingdings" panose="05000000000000000000" pitchFamily="2" charset="2"/>
              <a:buChar char="q"/>
            </a:pPr>
            <a:r>
              <a:rPr lang="en-US" dirty="0"/>
              <a:t> ANALYSIS OF FEEDBACK FROM STATES</a:t>
            </a:r>
          </a:p>
          <a:p>
            <a:pPr>
              <a:buFont typeface="Wingdings" panose="05000000000000000000" pitchFamily="2" charset="2"/>
              <a:buChar char="q"/>
            </a:pPr>
            <a:r>
              <a:rPr lang="en-US" dirty="0"/>
              <a:t> ISSUES/CHALLENGES</a:t>
            </a:r>
          </a:p>
          <a:p>
            <a:pPr>
              <a:buFont typeface="Wingdings" panose="05000000000000000000" pitchFamily="2" charset="2"/>
              <a:buChar char="q"/>
            </a:pPr>
            <a:r>
              <a:rPr lang="en-US" dirty="0"/>
              <a:t> ADDITIONAL STATE COMMENTS</a:t>
            </a:r>
          </a:p>
          <a:p>
            <a:pPr>
              <a:buFont typeface="Wingdings" panose="05000000000000000000" pitchFamily="2" charset="2"/>
              <a:buChar char="q"/>
            </a:pPr>
            <a:r>
              <a:rPr lang="en-US" dirty="0"/>
              <a:t> RECOMMENDATIONS</a:t>
            </a:r>
          </a:p>
          <a:p>
            <a:pPr>
              <a:buFont typeface="Wingdings" panose="05000000000000000000" pitchFamily="2" charset="2"/>
              <a:buChar char="q"/>
            </a:pPr>
            <a:endParaRPr lang="en-US" dirty="0"/>
          </a:p>
          <a:p>
            <a:pPr marL="0" indent="0">
              <a:buNone/>
            </a:pPr>
            <a:endParaRPr lang="en-US" dirty="0"/>
          </a:p>
        </p:txBody>
      </p:sp>
      <p:cxnSp>
        <p:nvCxnSpPr>
          <p:cNvPr id="7" name="Straight Connector 6"/>
          <p:cNvCxnSpPr/>
          <p:nvPr/>
        </p:nvCxnSpPr>
        <p:spPr>
          <a:xfrm flipV="1">
            <a:off x="838200" y="1239653"/>
            <a:ext cx="9520909" cy="7978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2492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a:xfrm>
            <a:off x="838200" y="168275"/>
            <a:ext cx="10515600" cy="1069975"/>
          </a:xfrm>
          <a:ln>
            <a:solidFill>
              <a:schemeClr val="accent1"/>
            </a:solidFill>
            <a:miter/>
          </a:ln>
        </p:spPr>
        <p:txBody>
          <a:bodyPr vert="horz" lIns="91440" tIns="45720" rIns="91440" bIns="45720" anchor="ctr" anchorCtr="0"/>
          <a:lstStyle/>
          <a:p>
            <a:pPr algn="ctr"/>
            <a:r>
              <a:rPr lang="en-US" altLang="zh-CN" sz="3200" b="1" dirty="0"/>
              <a:t>METHODOLOGY ADOPTED FOR DATA COLLECTION</a:t>
            </a:r>
            <a:endParaRPr lang="en-US" altLang="zh-CN" sz="3200" dirty="0"/>
          </a:p>
        </p:txBody>
      </p:sp>
      <p:sp>
        <p:nvSpPr>
          <p:cNvPr id="3" name="Content Placeholder 2"/>
          <p:cNvSpPr>
            <a:spLocks noGrp="1"/>
          </p:cNvSpPr>
          <p:nvPr>
            <p:ph idx="1"/>
          </p:nvPr>
        </p:nvSpPr>
        <p:spPr>
          <a:xfrm>
            <a:off x="838200" y="1490663"/>
            <a:ext cx="10515600" cy="3573463"/>
          </a:xfrm>
        </p:spPr>
        <p:txBody>
          <a:bodyPr/>
          <a:lstStyle/>
          <a:p>
            <a:pPr marL="342900" marR="0" indent="-342900" algn="l" defTabSz="914400" rtl="0" eaLnBrk="1" fontAlgn="auto" latinLnBrk="0" hangingPunct="1">
              <a:lnSpc>
                <a:spcPct val="90000"/>
              </a:lnSpc>
              <a:spcBef>
                <a:spcPts val="1000"/>
              </a:spcBef>
              <a:spcAft>
                <a:spcPct val="0"/>
              </a:spcAft>
              <a:buClrTx/>
              <a:buSzTx/>
              <a:buFont typeface="+mj-lt"/>
              <a:buAutoNum type="arabicPeriod"/>
            </a:pPr>
            <a:r>
              <a:rPr lang="en-US" noProof="1"/>
              <a:t>I</a:t>
            </a:r>
            <a:r>
              <a:rPr kumimoji="0" lang="en-US" sz="2800" b="0" i="0" u="none" strike="noStrike" kern="1200" cap="none" spc="0" normalizeH="0" baseline="0" noProof="1">
                <a:solidFill>
                  <a:schemeClr val="tx1"/>
                </a:solidFill>
                <a:latin typeface="+mn-lt"/>
                <a:ea typeface="+mn-ea"/>
                <a:cs typeface="+mn-cs"/>
              </a:rPr>
              <a:t> reviewed and disseminated  updated version of post iLMD feedback and POD reconciliation sign-off template to all states.</a:t>
            </a:r>
          </a:p>
          <a:p>
            <a:pPr marL="342900" marR="0" indent="-342900" algn="l" defTabSz="914400" rtl="0" eaLnBrk="1" fontAlgn="auto" latinLnBrk="0" hangingPunct="1">
              <a:lnSpc>
                <a:spcPct val="90000"/>
              </a:lnSpc>
              <a:spcBef>
                <a:spcPts val="1000"/>
              </a:spcBef>
              <a:spcAft>
                <a:spcPct val="0"/>
              </a:spcAft>
              <a:buClrTx/>
              <a:buSzTx/>
              <a:buFont typeface="+mj-lt"/>
              <a:buAutoNum type="arabicPeriod"/>
            </a:pPr>
            <a:r>
              <a:rPr kumimoji="0" lang="en-US" sz="2800" b="0" i="0" u="none" strike="noStrike" kern="1200" cap="none" spc="0" normalizeH="0" baseline="0" noProof="1">
                <a:solidFill>
                  <a:schemeClr val="tx1"/>
                </a:solidFill>
                <a:latin typeface="+mn-lt"/>
                <a:ea typeface="+mn-ea"/>
                <a:cs typeface="+mn-cs"/>
              </a:rPr>
              <a:t>States </a:t>
            </a:r>
            <a:r>
              <a:rPr lang="en-US" noProof="1"/>
              <a:t>filled</a:t>
            </a:r>
            <a:r>
              <a:rPr kumimoji="0" lang="en-US" sz="2800" b="0" i="0" u="none" strike="noStrike" kern="1200" cap="none" spc="0" normalizeH="0" baseline="0" noProof="1">
                <a:solidFill>
                  <a:schemeClr val="tx1"/>
                </a:solidFill>
                <a:latin typeface="+mn-lt"/>
                <a:ea typeface="+mn-ea"/>
                <a:cs typeface="+mn-cs"/>
              </a:rPr>
              <a:t> both templates and shared with </a:t>
            </a:r>
            <a:r>
              <a:rPr lang="en-US" noProof="1"/>
              <a:t>me</a:t>
            </a:r>
            <a:r>
              <a:rPr kumimoji="0" lang="en-US" sz="2800" b="0" i="0" u="none" strike="noStrike" kern="1200" cap="none" spc="0" normalizeH="0" baseline="0" noProof="1">
                <a:solidFill>
                  <a:schemeClr val="tx1"/>
                </a:solidFill>
                <a:latin typeface="+mn-lt"/>
                <a:ea typeface="+mn-ea"/>
                <a:cs typeface="+mn-cs"/>
              </a:rPr>
              <a:t>. </a:t>
            </a:r>
          </a:p>
          <a:p>
            <a:pPr marL="342900" indent="-342900">
              <a:spcAft>
                <a:spcPct val="0"/>
              </a:spcAft>
              <a:buFont typeface="+mj-lt"/>
              <a:buAutoNum type="arabicPeriod"/>
            </a:pPr>
            <a:r>
              <a:rPr lang="en-US" noProof="1"/>
              <a:t>I</a:t>
            </a:r>
            <a:r>
              <a:rPr kumimoji="0" lang="en-US" sz="2800" b="0" i="0" u="none" strike="noStrike" kern="1200" cap="none" spc="0" normalizeH="0" baseline="0" noProof="1">
                <a:solidFill>
                  <a:schemeClr val="tx1"/>
                </a:solidFill>
                <a:latin typeface="+mn-lt"/>
                <a:ea typeface="+mn-ea"/>
                <a:cs typeface="+mn-cs"/>
              </a:rPr>
              <a:t> collated and analyzed the information from states; and </a:t>
            </a:r>
            <a:r>
              <a:rPr lang="en-US" noProof="1"/>
              <a:t>probed further to ascertain the true situation before</a:t>
            </a:r>
            <a:r>
              <a:rPr kumimoji="0" lang="en-US" sz="2800" b="0" i="0" u="none" strike="noStrike" kern="1200" cap="none" spc="0" normalizeH="0" baseline="0" noProof="1">
                <a:solidFill>
                  <a:schemeClr val="tx1"/>
                </a:solidFill>
                <a:latin typeface="+mn-lt"/>
                <a:ea typeface="+mn-ea"/>
                <a:cs typeface="+mn-cs"/>
              </a:rPr>
              <a:t> presentation.</a:t>
            </a:r>
            <a:r>
              <a:rPr kumimoji="0" lang="en-US" sz="2800" b="0" i="0" u="none" strike="noStrike" kern="1200" cap="none" spc="0" normalizeH="0" noProof="1">
                <a:solidFill>
                  <a:schemeClr val="tx1"/>
                </a:solidFill>
                <a:latin typeface="+mn-lt"/>
                <a:ea typeface="+mn-ea"/>
                <a:cs typeface="+mn-cs"/>
              </a:rPr>
              <a:t> </a:t>
            </a:r>
            <a:endParaRPr kumimoji="0" lang="en-US" sz="2800" b="0" i="0" u="none" strike="noStrike" kern="1200" cap="none" spc="0" normalizeH="0" baseline="0" noProof="1">
              <a:solidFill>
                <a:schemeClr val="tx1"/>
              </a:solidFill>
              <a:latin typeface="+mn-lt"/>
              <a:ea typeface="+mn-ea"/>
              <a:cs typeface="+mn-cs"/>
            </a:endParaRPr>
          </a:p>
          <a:p>
            <a: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pPr>
            <a:endParaRPr kumimoji="0" lang="en-US" sz="2800" b="0" i="0" u="none" strike="noStrike" kern="1200" cap="none" spc="0" normalizeH="0" baseline="0" noProof="1">
              <a:solidFill>
                <a:schemeClr val="tx1"/>
              </a:solidFill>
              <a:latin typeface="+mn-lt"/>
              <a:ea typeface="+mn-ea"/>
              <a:cs typeface="+mn-cs"/>
            </a:endParaRPr>
          </a:p>
        </p:txBody>
      </p:sp>
    </p:spTree>
    <p:extLst>
      <p:ext uri="{BB962C8B-B14F-4D97-AF65-F5344CB8AC3E}">
        <p14:creationId xmlns:p14="http://schemas.microsoft.com/office/powerpoint/2010/main" val="302319401"/>
      </p:ext>
    </p:extLst>
  </p:cSld>
  <p:clrMapOvr>
    <a:masterClrMapping/>
  </p:clrMapOvr>
  <p:transition spd="slow">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3E829C9-A41D-4F00-AC07-41D695E719EE}"/>
              </a:ext>
            </a:extLst>
          </p:cNvPr>
          <p:cNvSpPr/>
          <p:nvPr/>
        </p:nvSpPr>
        <p:spPr>
          <a:xfrm>
            <a:off x="9364866" y="847165"/>
            <a:ext cx="2726055" cy="494851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altLang="zh-CN" dirty="0">
                <a:solidFill>
                  <a:schemeClr val="tx1"/>
                </a:solidFill>
              </a:rPr>
              <a:t>All states received official notification prior to the LMD.</a:t>
            </a:r>
          </a:p>
          <a:p>
            <a:pPr marL="285750" indent="-285750">
              <a:buFont typeface="Wingdings" panose="05000000000000000000" pitchFamily="2" charset="2"/>
              <a:buChar char="§"/>
            </a:pPr>
            <a:r>
              <a:rPr lang="en-US" altLang="zh-CN" dirty="0">
                <a:solidFill>
                  <a:schemeClr val="tx1"/>
                </a:solidFill>
              </a:rPr>
              <a:t>All states had QTO review meetings to finalize state LMD orders</a:t>
            </a:r>
          </a:p>
          <a:p>
            <a:pPr marL="285750" indent="-285750">
              <a:buFont typeface="Wingdings" panose="05000000000000000000" pitchFamily="2" charset="2"/>
              <a:buChar char="§"/>
            </a:pPr>
            <a:r>
              <a:rPr lang="en-US" altLang="zh-CN" dirty="0">
                <a:solidFill>
                  <a:schemeClr val="tx1"/>
                </a:solidFill>
              </a:rPr>
              <a:t>All States except  </a:t>
            </a:r>
            <a:r>
              <a:rPr lang="en-US" altLang="zh-CN" b="1" dirty="0">
                <a:solidFill>
                  <a:schemeClr val="tx1"/>
                </a:solidFill>
              </a:rPr>
              <a:t>Osun</a:t>
            </a:r>
            <a:r>
              <a:rPr lang="en-US" altLang="zh-CN" dirty="0">
                <a:solidFill>
                  <a:schemeClr val="tx1"/>
                </a:solidFill>
              </a:rPr>
              <a:t> received feedback on rationed commodities prior to LMD.</a:t>
            </a:r>
          </a:p>
          <a:p>
            <a:pPr marL="285750" indent="-285750">
              <a:buFont typeface="Wingdings" panose="05000000000000000000" pitchFamily="2" charset="2"/>
              <a:buChar char="§"/>
            </a:pPr>
            <a:r>
              <a:rPr lang="en-US" altLang="zh-CN" dirty="0">
                <a:solidFill>
                  <a:schemeClr val="tx1"/>
                </a:solidFill>
              </a:rPr>
              <a:t>All States participated in the development of route plans</a:t>
            </a:r>
            <a:r>
              <a:rPr lang="en-US" altLang="zh-CN" dirty="0"/>
              <a:t>.</a:t>
            </a:r>
          </a:p>
        </p:txBody>
      </p:sp>
      <p:sp>
        <p:nvSpPr>
          <p:cNvPr id="8" name="TextBox 7">
            <a:extLst>
              <a:ext uri="{FF2B5EF4-FFF2-40B4-BE49-F238E27FC236}">
                <a16:creationId xmlns:a16="http://schemas.microsoft.com/office/drawing/2014/main" id="{8B03B9CC-D340-48E8-B1FF-605291B3D0A0}"/>
              </a:ext>
            </a:extLst>
          </p:cNvPr>
          <p:cNvSpPr txBox="1"/>
          <p:nvPr/>
        </p:nvSpPr>
        <p:spPr>
          <a:xfrm>
            <a:off x="10309353" y="477833"/>
            <a:ext cx="837079" cy="369332"/>
          </a:xfrm>
          <a:prstGeom prst="rect">
            <a:avLst/>
          </a:prstGeom>
          <a:noFill/>
        </p:spPr>
        <p:txBody>
          <a:bodyPr wrap="square">
            <a:spAutoFit/>
          </a:bodyPr>
          <a:lstStyle/>
          <a:p>
            <a:r>
              <a:rPr lang="en-US" sz="1800" b="1" dirty="0"/>
              <a:t>NOTES</a:t>
            </a:r>
          </a:p>
        </p:txBody>
      </p:sp>
      <p:sp>
        <p:nvSpPr>
          <p:cNvPr id="10" name="TextBox 9">
            <a:extLst>
              <a:ext uri="{FF2B5EF4-FFF2-40B4-BE49-F238E27FC236}">
                <a16:creationId xmlns:a16="http://schemas.microsoft.com/office/drawing/2014/main" id="{55E70D21-C088-42E5-B27A-F46B3AF0631C}"/>
              </a:ext>
            </a:extLst>
          </p:cNvPr>
          <p:cNvSpPr txBox="1"/>
          <p:nvPr/>
        </p:nvSpPr>
        <p:spPr>
          <a:xfrm>
            <a:off x="2635624" y="578224"/>
            <a:ext cx="3267635" cy="677108"/>
          </a:xfrm>
          <a:prstGeom prst="rect">
            <a:avLst/>
          </a:prstGeom>
          <a:noFill/>
        </p:spPr>
        <p:txBody>
          <a:bodyPr wrap="square" rtlCol="0">
            <a:spAutoFit/>
          </a:bodyPr>
          <a:lstStyle/>
          <a:p>
            <a:r>
              <a:rPr lang="en-US" sz="2000" b="1" i="0" baseline="0" dirty="0">
                <a:effectLst/>
              </a:rPr>
              <a:t>RESPONSES FROM STATES</a:t>
            </a:r>
            <a:endParaRPr lang="en-US" sz="2000" dirty="0">
              <a:effectLst/>
            </a:endParaRPr>
          </a:p>
          <a:p>
            <a:endParaRPr lang="en-US" dirty="0"/>
          </a:p>
        </p:txBody>
      </p:sp>
      <p:graphicFrame>
        <p:nvGraphicFramePr>
          <p:cNvPr id="6" name="Chart 5">
            <a:extLst>
              <a:ext uri="{FF2B5EF4-FFF2-40B4-BE49-F238E27FC236}">
                <a16:creationId xmlns:a16="http://schemas.microsoft.com/office/drawing/2014/main" id="{9E105B53-6565-442B-8C72-54D9E251E5EB}"/>
              </a:ext>
            </a:extLst>
          </p:cNvPr>
          <p:cNvGraphicFramePr>
            <a:graphicFrameLocks/>
          </p:cNvGraphicFramePr>
          <p:nvPr>
            <p:extLst>
              <p:ext uri="{D42A27DB-BD31-4B8C-83A1-F6EECF244321}">
                <p14:modId xmlns:p14="http://schemas.microsoft.com/office/powerpoint/2010/main" val="1092522108"/>
              </p:ext>
            </p:extLst>
          </p:nvPr>
        </p:nvGraphicFramePr>
        <p:xfrm>
          <a:off x="0" y="0"/>
          <a:ext cx="9011798"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840946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3">
            <a:extLst>
              <a:ext uri="{FF2B5EF4-FFF2-40B4-BE49-F238E27FC236}">
                <a16:creationId xmlns:a16="http://schemas.microsoft.com/office/drawing/2014/main" id="{5EEB3ECC-D21A-4370-B90C-D2F4E50063BE}"/>
              </a:ext>
            </a:extLst>
          </p:cNvPr>
          <p:cNvSpPr/>
          <p:nvPr/>
        </p:nvSpPr>
        <p:spPr>
          <a:xfrm>
            <a:off x="9513122" y="954107"/>
            <a:ext cx="2536452" cy="525940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553AED-4B7D-4B1D-BE9B-EF5F4917A43F}"/>
              </a:ext>
            </a:extLst>
          </p:cNvPr>
          <p:cNvSpPr txBox="1"/>
          <p:nvPr/>
        </p:nvSpPr>
        <p:spPr>
          <a:xfrm>
            <a:off x="9681881" y="1028342"/>
            <a:ext cx="2191871" cy="4801314"/>
          </a:xfrm>
          <a:prstGeom prst="rect">
            <a:avLst/>
          </a:prstGeom>
          <a:noFill/>
        </p:spPr>
        <p:txBody>
          <a:bodyPr wrap="square">
            <a:spAutoFit/>
          </a:bodyPr>
          <a:lstStyle/>
          <a:p>
            <a:pPr marL="285750" indent="-285750">
              <a:buFont typeface="Wingdings" panose="05000000000000000000" pitchFamily="2" charset="2"/>
              <a:buChar char="§"/>
            </a:pPr>
            <a:r>
              <a:rPr lang="en-US" altLang="zh-CN" b="1" dirty="0"/>
              <a:t>Delayed LMD implementation: </a:t>
            </a:r>
            <a:r>
              <a:rPr lang="en-US" altLang="zh-CN" dirty="0" err="1"/>
              <a:t>Abia</a:t>
            </a:r>
            <a:r>
              <a:rPr lang="en-US" altLang="zh-CN" dirty="0"/>
              <a:t>, </a:t>
            </a:r>
            <a:r>
              <a:rPr lang="en-US" altLang="zh-CN" dirty="0" err="1"/>
              <a:t>Akwa</a:t>
            </a:r>
            <a:r>
              <a:rPr lang="en-US" altLang="zh-CN" dirty="0"/>
              <a:t> Ibom,  </a:t>
            </a:r>
            <a:r>
              <a:rPr lang="en-US" altLang="zh-CN" dirty="0" err="1"/>
              <a:t>Bayelsa</a:t>
            </a:r>
            <a:r>
              <a:rPr lang="en-US" altLang="zh-CN" dirty="0"/>
              <a:t>, Cross River, Ebonyi, FCT, </a:t>
            </a:r>
            <a:r>
              <a:rPr lang="en-US" altLang="zh-CN" dirty="0" err="1"/>
              <a:t>Gombe</a:t>
            </a:r>
            <a:r>
              <a:rPr lang="en-US" altLang="zh-CN" dirty="0"/>
              <a:t>, </a:t>
            </a:r>
            <a:r>
              <a:rPr lang="en-US" altLang="zh-CN" dirty="0" err="1"/>
              <a:t>Jigawa</a:t>
            </a:r>
            <a:r>
              <a:rPr lang="en-US" altLang="zh-CN" dirty="0"/>
              <a:t>, Kaduna, Kano, Kebbi, </a:t>
            </a:r>
            <a:r>
              <a:rPr lang="en-US" altLang="zh-CN" dirty="0" err="1"/>
              <a:t>Kwara</a:t>
            </a:r>
            <a:r>
              <a:rPr lang="en-US" altLang="zh-CN" dirty="0"/>
              <a:t>, Nasarawa, Niger, </a:t>
            </a:r>
            <a:r>
              <a:rPr lang="en-US" altLang="zh-CN" dirty="0" err="1"/>
              <a:t>Sokoto</a:t>
            </a:r>
            <a:r>
              <a:rPr lang="en-US" altLang="zh-CN" dirty="0"/>
              <a:t> &amp; Taraba</a:t>
            </a:r>
            <a:r>
              <a:rPr lang="en-US" dirty="0"/>
              <a:t>.</a:t>
            </a:r>
          </a:p>
          <a:p>
            <a:pPr marL="285750" indent="-285750">
              <a:buFont typeface="Wingdings" panose="05000000000000000000" pitchFamily="2" charset="2"/>
              <a:buChar char="§"/>
            </a:pPr>
            <a:r>
              <a:rPr lang="en-US" altLang="zh-CN" b="1" dirty="0"/>
              <a:t>Occurrence of incomplete deliveries:</a:t>
            </a:r>
            <a:r>
              <a:rPr lang="en-US" altLang="zh-CN" dirty="0"/>
              <a:t> Gombe &amp; Niger.</a:t>
            </a:r>
          </a:p>
          <a:p>
            <a:pPr marL="285750" indent="-285750">
              <a:buFont typeface="Wingdings" panose="05000000000000000000" pitchFamily="2" charset="2"/>
              <a:buChar char="§"/>
            </a:pPr>
            <a:r>
              <a:rPr lang="en-US" altLang="zh-CN" b="1" dirty="0"/>
              <a:t>Occurrence of proxy deliveries: </a:t>
            </a:r>
            <a:r>
              <a:rPr lang="en-US" altLang="zh-CN" dirty="0"/>
              <a:t>Ebonyi &amp; Kaduna.</a:t>
            </a:r>
            <a:endParaRPr lang="en-US" dirty="0"/>
          </a:p>
        </p:txBody>
      </p:sp>
      <p:sp>
        <p:nvSpPr>
          <p:cNvPr id="7" name="TextBox 6">
            <a:extLst>
              <a:ext uri="{FF2B5EF4-FFF2-40B4-BE49-F238E27FC236}">
                <a16:creationId xmlns:a16="http://schemas.microsoft.com/office/drawing/2014/main" id="{E72DF68F-8F11-4E65-A8AE-35B738097783}"/>
              </a:ext>
            </a:extLst>
          </p:cNvPr>
          <p:cNvSpPr txBox="1"/>
          <p:nvPr/>
        </p:nvSpPr>
        <p:spPr>
          <a:xfrm>
            <a:off x="10433235" y="547658"/>
            <a:ext cx="689161" cy="369332"/>
          </a:xfrm>
          <a:prstGeom prst="rect">
            <a:avLst/>
          </a:prstGeom>
          <a:noFill/>
        </p:spPr>
        <p:txBody>
          <a:bodyPr wrap="square">
            <a:spAutoFit/>
          </a:bodyPr>
          <a:lstStyle/>
          <a:p>
            <a:r>
              <a:rPr lang="en-US" b="1" dirty="0"/>
              <a:t>Note</a:t>
            </a:r>
            <a:endParaRPr lang="en-US" dirty="0"/>
          </a:p>
        </p:txBody>
      </p:sp>
      <p:graphicFrame>
        <p:nvGraphicFramePr>
          <p:cNvPr id="8" name="Chart 7">
            <a:extLst>
              <a:ext uri="{FF2B5EF4-FFF2-40B4-BE49-F238E27FC236}">
                <a16:creationId xmlns:a16="http://schemas.microsoft.com/office/drawing/2014/main" id="{5C83E842-5271-4313-8691-C2401F1F9871}"/>
              </a:ext>
            </a:extLst>
          </p:cNvPr>
          <p:cNvGraphicFramePr>
            <a:graphicFrameLocks/>
          </p:cNvGraphicFramePr>
          <p:nvPr>
            <p:extLst>
              <p:ext uri="{D42A27DB-BD31-4B8C-83A1-F6EECF244321}">
                <p14:modId xmlns:p14="http://schemas.microsoft.com/office/powerpoint/2010/main" val="556017412"/>
              </p:ext>
            </p:extLst>
          </p:nvPr>
        </p:nvGraphicFramePr>
        <p:xfrm>
          <a:off x="1288973" y="547659"/>
          <a:ext cx="7877061" cy="5831108"/>
        </p:xfrm>
        <a:graphic>
          <a:graphicData uri="http://schemas.openxmlformats.org/drawingml/2006/chart">
            <c:chart xmlns:c="http://schemas.openxmlformats.org/drawingml/2006/chart" xmlns:r="http://schemas.openxmlformats.org/officeDocument/2006/relationships" r:id="rId2"/>
          </a:graphicData>
        </a:graphic>
      </p:graphicFrame>
      <p:sp>
        <p:nvSpPr>
          <p:cNvPr id="9" name="Arrow: Right 1">
            <a:extLst>
              <a:ext uri="{FF2B5EF4-FFF2-40B4-BE49-F238E27FC236}">
                <a16:creationId xmlns:a16="http://schemas.microsoft.com/office/drawing/2014/main" id="{7966FC95-C876-4BFB-AB19-F2C10502FACD}"/>
              </a:ext>
            </a:extLst>
          </p:cNvPr>
          <p:cNvSpPr/>
          <p:nvPr/>
        </p:nvSpPr>
        <p:spPr>
          <a:xfrm>
            <a:off x="0" y="3079757"/>
            <a:ext cx="1209408" cy="975482"/>
          </a:xfrm>
          <a:prstGeom prst="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400" b="1" dirty="0"/>
          </a:p>
          <a:p>
            <a:pPr algn="ctr"/>
            <a:r>
              <a:rPr lang="en-US" sz="1400" dirty="0">
                <a:ln w="0"/>
                <a:solidFill>
                  <a:schemeClr val="tx1"/>
                </a:solidFill>
                <a:effectLst>
                  <a:outerShdw blurRad="38100" dist="19050" dir="2700000" algn="tl" rotWithShape="0">
                    <a:schemeClr val="dk1">
                      <a:alpha val="40000"/>
                    </a:schemeClr>
                  </a:outerShdw>
                </a:effectLst>
              </a:rPr>
              <a:t>LMD ACTIVITIES</a:t>
            </a:r>
          </a:p>
          <a:p>
            <a:pPr algn="ctr"/>
            <a:endParaRPr lang="en-US" dirty="0"/>
          </a:p>
        </p:txBody>
      </p:sp>
      <p:sp>
        <p:nvSpPr>
          <p:cNvPr id="4" name="TextBox 3"/>
          <p:cNvSpPr txBox="1"/>
          <p:nvPr/>
        </p:nvSpPr>
        <p:spPr>
          <a:xfrm>
            <a:off x="3424301" y="180870"/>
            <a:ext cx="4045136" cy="523220"/>
          </a:xfrm>
          <a:prstGeom prst="rect">
            <a:avLst/>
          </a:prstGeom>
          <a:noFill/>
        </p:spPr>
        <p:txBody>
          <a:bodyPr wrap="square" rtlCol="0">
            <a:spAutoFit/>
          </a:bodyPr>
          <a:lstStyle/>
          <a:p>
            <a:r>
              <a:rPr lang="en-US" sz="2800" b="1" dirty="0"/>
              <a:t>ANALYSIS OF FEEDBACK</a:t>
            </a:r>
            <a:endParaRPr lang="en-US" sz="2800" dirty="0"/>
          </a:p>
        </p:txBody>
      </p:sp>
      <p:sp>
        <p:nvSpPr>
          <p:cNvPr id="10" name="TextBox 9"/>
          <p:cNvSpPr txBox="1"/>
          <p:nvPr/>
        </p:nvSpPr>
        <p:spPr>
          <a:xfrm>
            <a:off x="1209408" y="2688116"/>
            <a:ext cx="244819" cy="1575412"/>
          </a:xfrm>
          <a:prstGeom prst="rect">
            <a:avLst/>
          </a:prstGeom>
          <a:noFill/>
        </p:spPr>
        <p:txBody>
          <a:bodyPr wrap="square" rtlCol="0">
            <a:spAutoFit/>
          </a:bodyPr>
          <a:lstStyle/>
          <a:p>
            <a:endParaRPr lang="en-US" dirty="0"/>
          </a:p>
        </p:txBody>
      </p:sp>
      <p:pic>
        <p:nvPicPr>
          <p:cNvPr id="11" name="Picture 10"/>
          <p:cNvPicPr>
            <a:picLocks noChangeAspect="1"/>
          </p:cNvPicPr>
          <p:nvPr/>
        </p:nvPicPr>
        <p:blipFill>
          <a:blip r:embed="rId3"/>
          <a:stretch>
            <a:fillRect/>
          </a:stretch>
        </p:blipFill>
        <p:spPr>
          <a:xfrm rot="16200000">
            <a:off x="798541" y="3354119"/>
            <a:ext cx="1268078" cy="426757"/>
          </a:xfrm>
          <a:prstGeom prst="rect">
            <a:avLst/>
          </a:prstGeom>
        </p:spPr>
      </p:pic>
    </p:spTree>
    <p:extLst>
      <p:ext uri="{BB962C8B-B14F-4D97-AF65-F5344CB8AC3E}">
        <p14:creationId xmlns:p14="http://schemas.microsoft.com/office/powerpoint/2010/main" val="28798754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3">
            <a:extLst>
              <a:ext uri="{FF2B5EF4-FFF2-40B4-BE49-F238E27FC236}">
                <a16:creationId xmlns:a16="http://schemas.microsoft.com/office/drawing/2014/main" id="{FBBC27D5-697A-47EF-923A-ED965A6E67DE}"/>
              </a:ext>
            </a:extLst>
          </p:cNvPr>
          <p:cNvSpPr/>
          <p:nvPr/>
        </p:nvSpPr>
        <p:spPr>
          <a:xfrm>
            <a:off x="9403080" y="944377"/>
            <a:ext cx="2590800" cy="45574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F00DFE-3100-43E7-BC30-95DEE722E05A}"/>
              </a:ext>
            </a:extLst>
          </p:cNvPr>
          <p:cNvSpPr txBox="1"/>
          <p:nvPr/>
        </p:nvSpPr>
        <p:spPr>
          <a:xfrm>
            <a:off x="9403080" y="1356135"/>
            <a:ext cx="2590800" cy="3693319"/>
          </a:xfrm>
          <a:prstGeom prst="rect">
            <a:avLst/>
          </a:prstGeom>
          <a:noFill/>
        </p:spPr>
        <p:txBody>
          <a:bodyPr wrap="square">
            <a:spAutoFit/>
          </a:bodyPr>
          <a:lstStyle/>
          <a:p>
            <a:pPr marL="285750" indent="-285750">
              <a:buFont typeface="Wingdings" panose="05000000000000000000" pitchFamily="2" charset="2"/>
              <a:buChar char="§"/>
            </a:pPr>
            <a:r>
              <a:rPr lang="en-US" altLang="zh-CN" b="1" dirty="0"/>
              <a:t>Receipt of PODs from 3PLs: </a:t>
            </a:r>
            <a:r>
              <a:rPr lang="en-US" altLang="zh-CN" dirty="0"/>
              <a:t>All states acknowledged receipt of signed PODs</a:t>
            </a:r>
          </a:p>
          <a:p>
            <a:pPr marL="285750" indent="-285750">
              <a:buFont typeface="Wingdings" panose="05000000000000000000" pitchFamily="2" charset="2"/>
              <a:buChar char="§"/>
            </a:pPr>
            <a:r>
              <a:rPr lang="en-US" altLang="zh-CN" b="1" dirty="0"/>
              <a:t>Validation of PODs: </a:t>
            </a:r>
            <a:r>
              <a:rPr lang="en-US" altLang="zh-CN" dirty="0"/>
              <a:t>All states have validated signed PODs</a:t>
            </a:r>
            <a:endParaRPr lang="en-US" altLang="zh-CN" b="1" dirty="0"/>
          </a:p>
          <a:p>
            <a:pPr marL="285750" indent="-285750">
              <a:buFont typeface="Wingdings" panose="05000000000000000000" pitchFamily="2" charset="2"/>
              <a:buChar char="§"/>
            </a:pPr>
            <a:r>
              <a:rPr lang="en-US" altLang="zh-CN" b="1" dirty="0"/>
              <a:t>POD reconciliation sign off: </a:t>
            </a:r>
            <a:r>
              <a:rPr lang="en-US" altLang="zh-CN" dirty="0"/>
              <a:t>All states signed off their POD reconciliation templates except </a:t>
            </a:r>
            <a:r>
              <a:rPr lang="en-US" altLang="zh-CN" b="1" dirty="0"/>
              <a:t>Kano &amp; Niger.</a:t>
            </a:r>
          </a:p>
        </p:txBody>
      </p:sp>
      <p:sp>
        <p:nvSpPr>
          <p:cNvPr id="7" name="TextBox 6">
            <a:extLst>
              <a:ext uri="{FF2B5EF4-FFF2-40B4-BE49-F238E27FC236}">
                <a16:creationId xmlns:a16="http://schemas.microsoft.com/office/drawing/2014/main" id="{F634CDB4-C06E-49AA-8F1E-A14B3B86517B}"/>
              </a:ext>
            </a:extLst>
          </p:cNvPr>
          <p:cNvSpPr txBox="1"/>
          <p:nvPr/>
        </p:nvSpPr>
        <p:spPr>
          <a:xfrm>
            <a:off x="10360623" y="553832"/>
            <a:ext cx="675714" cy="369332"/>
          </a:xfrm>
          <a:prstGeom prst="rect">
            <a:avLst/>
          </a:prstGeom>
          <a:noFill/>
        </p:spPr>
        <p:txBody>
          <a:bodyPr wrap="square">
            <a:spAutoFit/>
          </a:bodyPr>
          <a:lstStyle/>
          <a:p>
            <a:r>
              <a:rPr lang="en-US" b="1" dirty="0"/>
              <a:t>Note</a:t>
            </a:r>
            <a:endParaRPr lang="en-US" dirty="0"/>
          </a:p>
        </p:txBody>
      </p:sp>
      <p:sp>
        <p:nvSpPr>
          <p:cNvPr id="8" name="Right Arrow 19">
            <a:extLst>
              <a:ext uri="{FF2B5EF4-FFF2-40B4-BE49-F238E27FC236}">
                <a16:creationId xmlns:a16="http://schemas.microsoft.com/office/drawing/2014/main" id="{75467D65-A97C-4685-8EA8-DC07D7E59F89}"/>
              </a:ext>
            </a:extLst>
          </p:cNvPr>
          <p:cNvSpPr/>
          <p:nvPr/>
        </p:nvSpPr>
        <p:spPr>
          <a:xfrm>
            <a:off x="94130" y="3078480"/>
            <a:ext cx="1264024" cy="848061"/>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1DC66FA0-2C09-4737-B453-AC5D375D2115}"/>
              </a:ext>
            </a:extLst>
          </p:cNvPr>
          <p:cNvSpPr txBox="1"/>
          <p:nvPr/>
        </p:nvSpPr>
        <p:spPr>
          <a:xfrm>
            <a:off x="94131" y="3244334"/>
            <a:ext cx="1264024" cy="492443"/>
          </a:xfrm>
          <a:prstGeom prst="rect">
            <a:avLst/>
          </a:prstGeom>
          <a:noFill/>
        </p:spPr>
        <p:txBody>
          <a:bodyPr wrap="square">
            <a:spAutoFit/>
          </a:bodyPr>
          <a:lstStyle/>
          <a:p>
            <a:r>
              <a:rPr lang="en-US" sz="1300" b="1" dirty="0"/>
              <a:t>POST-LMD ACTIVITIES</a:t>
            </a:r>
          </a:p>
        </p:txBody>
      </p:sp>
      <p:graphicFrame>
        <p:nvGraphicFramePr>
          <p:cNvPr id="9" name="Chart 8">
            <a:extLst>
              <a:ext uri="{FF2B5EF4-FFF2-40B4-BE49-F238E27FC236}">
                <a16:creationId xmlns:a16="http://schemas.microsoft.com/office/drawing/2014/main" id="{7A7B2A3D-61F0-49D7-B4ED-900653961419}"/>
              </a:ext>
            </a:extLst>
          </p:cNvPr>
          <p:cNvGraphicFramePr>
            <a:graphicFrameLocks/>
          </p:cNvGraphicFramePr>
          <p:nvPr>
            <p:extLst>
              <p:ext uri="{D42A27DB-BD31-4B8C-83A1-F6EECF244321}">
                <p14:modId xmlns:p14="http://schemas.microsoft.com/office/powerpoint/2010/main" val="3848389759"/>
              </p:ext>
            </p:extLst>
          </p:nvPr>
        </p:nvGraphicFramePr>
        <p:xfrm>
          <a:off x="638977" y="0"/>
          <a:ext cx="8361803"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4378627" y="361251"/>
            <a:ext cx="2377126" cy="338554"/>
          </a:xfrm>
          <a:prstGeom prst="rect">
            <a:avLst/>
          </a:prstGeom>
        </p:spPr>
        <p:txBody>
          <a:bodyPr wrap="none">
            <a:spAutoFit/>
          </a:bodyPr>
          <a:lstStyle/>
          <a:p>
            <a:pPr algn="ctr">
              <a:defRPr sz="1600" b="1" i="0" u="none" strike="noStrike" kern="1200" baseline="0">
                <a:solidFill>
                  <a:prstClr val="black">
                    <a:lumMod val="65000"/>
                    <a:lumOff val="35000"/>
                  </a:prstClr>
                </a:solidFill>
                <a:latin typeface="+mn-lt"/>
                <a:ea typeface="+mn-ea"/>
                <a:cs typeface="+mn-cs"/>
              </a:defRPr>
            </a:pPr>
            <a:r>
              <a:rPr lang="en-US" b="1" dirty="0">
                <a:solidFill>
                  <a:prstClr val="black">
                    <a:lumMod val="65000"/>
                    <a:lumOff val="35000"/>
                  </a:prstClr>
                </a:solidFill>
              </a:rPr>
              <a:t>RESPONSES FROM STATES</a:t>
            </a:r>
          </a:p>
        </p:txBody>
      </p:sp>
    </p:spTree>
    <p:extLst>
      <p:ext uri="{BB962C8B-B14F-4D97-AF65-F5344CB8AC3E}">
        <p14:creationId xmlns:p14="http://schemas.microsoft.com/office/powerpoint/2010/main" val="2823461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9865"/>
            <a:ext cx="10515600" cy="511175"/>
          </a:xfrm>
        </p:spPr>
        <p:txBody>
          <a:bodyPr/>
          <a:lstStyle/>
          <a:p>
            <a:r>
              <a:rPr lang="en-US" sz="3600" b="1" dirty="0"/>
              <a:t>STATUS OF PROXY DELIVERIES </a:t>
            </a:r>
            <a:endParaRPr lang="en-US" sz="2800" b="1" dirty="0"/>
          </a:p>
        </p:txBody>
      </p:sp>
      <p:sp>
        <p:nvSpPr>
          <p:cNvPr id="3" name="Content Placeholder 2"/>
          <p:cNvSpPr>
            <a:spLocks noGrp="1"/>
          </p:cNvSpPr>
          <p:nvPr>
            <p:ph idx="1"/>
          </p:nvPr>
        </p:nvSpPr>
        <p:spPr>
          <a:xfrm>
            <a:off x="838200" y="899160"/>
            <a:ext cx="10683240" cy="5722620"/>
          </a:xfrm>
        </p:spPr>
        <p:txBody>
          <a:bodyPr/>
          <a:lstStyle/>
          <a:p>
            <a:pPr>
              <a:buFont typeface="Wingdings" panose="05000000000000000000" pitchFamily="2" charset="2"/>
              <a:buChar char="Ø"/>
            </a:pPr>
            <a:r>
              <a:rPr lang="en-US" sz="2400" dirty="0"/>
              <a:t> </a:t>
            </a:r>
            <a:r>
              <a:rPr lang="en-US" sz="2400" b="1" dirty="0"/>
              <a:t>EBONYI</a:t>
            </a:r>
          </a:p>
          <a:p>
            <a:pPr marL="0" indent="0">
              <a:buNone/>
            </a:pPr>
            <a:r>
              <a:rPr lang="en-US" sz="2400" dirty="0"/>
              <a:t>This was a Site Proxy Delivery that involved </a:t>
            </a:r>
            <a:r>
              <a:rPr lang="en-US" sz="2400" dirty="0" err="1"/>
              <a:t>Akaeze</a:t>
            </a:r>
            <a:r>
              <a:rPr lang="en-US" sz="2400" dirty="0"/>
              <a:t> </a:t>
            </a:r>
            <a:r>
              <a:rPr lang="en-US" sz="2400" dirty="0" err="1"/>
              <a:t>Ukwu</a:t>
            </a:r>
            <a:r>
              <a:rPr lang="en-US" sz="2400" dirty="0"/>
              <a:t> PHC &amp; </a:t>
            </a:r>
            <a:r>
              <a:rPr lang="en-US" sz="2400" dirty="0" err="1"/>
              <a:t>Iyioji</a:t>
            </a:r>
            <a:r>
              <a:rPr lang="en-US" sz="2400" dirty="0"/>
              <a:t> PHC of Ivo LGA of the state. No state official consented to the proxy delivery. No reason was given for the proxy delivery however, this has been escalated for appropriate sanction to be meted on the 3PL.</a:t>
            </a:r>
          </a:p>
          <a:p>
            <a:pPr marL="0" indent="0">
              <a:buNone/>
            </a:pPr>
            <a:r>
              <a:rPr lang="en-US" sz="2400" dirty="0"/>
              <a:t> 	</a:t>
            </a:r>
          </a:p>
          <a:p>
            <a:pPr>
              <a:buFont typeface="Wingdings" panose="05000000000000000000" pitchFamily="2" charset="2"/>
              <a:buChar char="Ø"/>
            </a:pPr>
            <a:r>
              <a:rPr lang="en-US" sz="2400" dirty="0"/>
              <a:t> </a:t>
            </a:r>
            <a:r>
              <a:rPr lang="en-US" sz="2400" b="1" dirty="0"/>
              <a:t>KADUNA</a:t>
            </a:r>
          </a:p>
          <a:p>
            <a:pPr marL="0" indent="0">
              <a:buNone/>
            </a:pPr>
            <a:r>
              <a:rPr lang="en-US" sz="2400" b="1" dirty="0"/>
              <a:t>This was an approved site proxy delivery due to prevailing insecurity in the state. (</a:t>
            </a:r>
            <a:r>
              <a:rPr lang="en-US" sz="2400" i="1" dirty="0"/>
              <a:t>The commodities for the 30 facilities in </a:t>
            </a:r>
            <a:r>
              <a:rPr lang="en-US" sz="2400" i="1" dirty="0" err="1"/>
              <a:t>Birnin</a:t>
            </a:r>
            <a:r>
              <a:rPr lang="en-US" sz="2400" i="1" dirty="0"/>
              <a:t> </a:t>
            </a:r>
            <a:r>
              <a:rPr lang="en-US" sz="2400" i="1" dirty="0" err="1"/>
              <a:t>Gwari</a:t>
            </a:r>
            <a:r>
              <a:rPr lang="en-US" sz="2400" i="1" dirty="0"/>
              <a:t> </a:t>
            </a:r>
            <a:r>
              <a:rPr lang="en-US" sz="2400" i="1" dirty="0" err="1"/>
              <a:t>lga</a:t>
            </a:r>
            <a:r>
              <a:rPr lang="en-US" sz="2400" i="1" dirty="0"/>
              <a:t> was handed over to another 3PL at the state warehouse serving as meeting point for onward delivery to facilities in </a:t>
            </a:r>
            <a:r>
              <a:rPr lang="en-US" sz="2400" i="1" dirty="0" err="1"/>
              <a:t>Birnin</a:t>
            </a:r>
            <a:r>
              <a:rPr lang="en-US" sz="2400" i="1" dirty="0"/>
              <a:t> </a:t>
            </a:r>
            <a:r>
              <a:rPr lang="en-US" sz="2400" i="1" dirty="0" err="1"/>
              <a:t>Gwari</a:t>
            </a:r>
            <a:r>
              <a:rPr lang="en-US" sz="2400" i="1" dirty="0"/>
              <a:t> </a:t>
            </a:r>
            <a:r>
              <a:rPr lang="en-US" sz="2400" i="1" dirty="0" err="1"/>
              <a:t>lga</a:t>
            </a:r>
            <a:r>
              <a:rPr lang="en-US" sz="2400" i="1" dirty="0"/>
              <a:t> while for facilities in </a:t>
            </a:r>
            <a:r>
              <a:rPr lang="en-US" sz="2400" i="1" dirty="0" err="1"/>
              <a:t>Igabi</a:t>
            </a:r>
            <a:r>
              <a:rPr lang="en-US" sz="2400" i="1" dirty="0"/>
              <a:t> </a:t>
            </a:r>
            <a:r>
              <a:rPr lang="en-US" sz="2400" i="1" dirty="0" err="1"/>
              <a:t>lga</a:t>
            </a:r>
            <a:r>
              <a:rPr lang="en-US" sz="2400" i="1" dirty="0"/>
              <a:t> (10), </a:t>
            </a:r>
            <a:r>
              <a:rPr lang="en-US" sz="2400" i="1" dirty="0" err="1"/>
              <a:t>Giwa</a:t>
            </a:r>
            <a:r>
              <a:rPr lang="en-US" sz="2400" i="1" dirty="0"/>
              <a:t> </a:t>
            </a:r>
            <a:r>
              <a:rPr lang="en-US" sz="2400" i="1" dirty="0" err="1"/>
              <a:t>lga</a:t>
            </a:r>
            <a:r>
              <a:rPr lang="en-US" sz="2400" i="1" dirty="0"/>
              <a:t> (11), </a:t>
            </a:r>
            <a:r>
              <a:rPr lang="en-US" sz="2400" i="1" dirty="0" err="1"/>
              <a:t>Chikun</a:t>
            </a:r>
            <a:r>
              <a:rPr lang="en-US" sz="2400" i="1" dirty="0"/>
              <a:t> </a:t>
            </a:r>
            <a:r>
              <a:rPr lang="en-US" sz="2400" i="1" dirty="0" err="1"/>
              <a:t>lga</a:t>
            </a:r>
            <a:r>
              <a:rPr lang="en-US" sz="2400" i="1" dirty="0"/>
              <a:t> (10), </a:t>
            </a:r>
            <a:r>
              <a:rPr lang="en-US" sz="2400" i="1" dirty="0" err="1"/>
              <a:t>Zangon</a:t>
            </a:r>
            <a:r>
              <a:rPr lang="en-US" sz="2400" i="1" dirty="0"/>
              <a:t> </a:t>
            </a:r>
            <a:r>
              <a:rPr lang="en-US" sz="2400" i="1" dirty="0" err="1"/>
              <a:t>Kataf</a:t>
            </a:r>
            <a:r>
              <a:rPr lang="en-US" sz="2400" i="1" dirty="0"/>
              <a:t> </a:t>
            </a:r>
            <a:r>
              <a:rPr lang="en-US" sz="2400" i="1" dirty="0" err="1"/>
              <a:t>lga</a:t>
            </a:r>
            <a:r>
              <a:rPr lang="en-US" sz="2400" i="1" dirty="0"/>
              <a:t> (9), </a:t>
            </a:r>
            <a:r>
              <a:rPr lang="en-US" sz="2400" i="1" dirty="0" err="1"/>
              <a:t>Kachia</a:t>
            </a:r>
            <a:r>
              <a:rPr lang="en-US" sz="2400" i="1" dirty="0"/>
              <a:t> </a:t>
            </a:r>
            <a:r>
              <a:rPr lang="en-US" sz="2400" i="1" dirty="0" err="1"/>
              <a:t>lga</a:t>
            </a:r>
            <a:r>
              <a:rPr lang="en-US" sz="2400" i="1" dirty="0"/>
              <a:t> (6) and </a:t>
            </a:r>
            <a:r>
              <a:rPr lang="en-US" sz="2400" i="1" dirty="0" err="1"/>
              <a:t>Kagarko</a:t>
            </a:r>
            <a:r>
              <a:rPr lang="en-US" sz="2400" i="1" dirty="0"/>
              <a:t> </a:t>
            </a:r>
            <a:r>
              <a:rPr lang="en-US" sz="2400" i="1" dirty="0" err="1"/>
              <a:t>lga</a:t>
            </a:r>
            <a:r>
              <a:rPr lang="en-US" sz="2400" i="1" dirty="0"/>
              <a:t> (16)were delivered to facility POC's at designated safe places with the consent of the state and other stakeholders</a:t>
            </a:r>
            <a:r>
              <a:rPr lang="en-US" sz="2400" b="1" dirty="0"/>
              <a:t>).</a:t>
            </a:r>
          </a:p>
          <a:p>
            <a:pPr marL="0" indent="0">
              <a:buNone/>
            </a:pPr>
            <a:endParaRPr lang="en-US" sz="2400" b="1" dirty="0">
              <a:solidFill>
                <a:srgbClr val="FF0000"/>
              </a:solidFill>
            </a:endParaRPr>
          </a:p>
          <a:p>
            <a:pPr marL="0" indent="0">
              <a:buNone/>
            </a:pPr>
            <a:endParaRPr lang="en-US" sz="2400" b="1" dirty="0"/>
          </a:p>
          <a:p>
            <a:pPr marL="0" indent="0">
              <a:buNone/>
            </a:pPr>
            <a:r>
              <a:rPr lang="en-US" sz="2400" b="0" i="0" dirty="0">
                <a:effectLst/>
                <a:latin typeface="Calibri" panose="020F0502020204030204" pitchFamily="34" charset="0"/>
              </a:rPr>
              <a:t>.</a:t>
            </a:r>
            <a:endParaRPr lang="en-US" sz="2400" b="1" dirty="0"/>
          </a:p>
        </p:txBody>
      </p:sp>
      <p:cxnSp>
        <p:nvCxnSpPr>
          <p:cNvPr id="5" name="Straight Connector 4"/>
          <p:cNvCxnSpPr/>
          <p:nvPr/>
        </p:nvCxnSpPr>
        <p:spPr>
          <a:xfrm flipV="1">
            <a:off x="838200" y="701040"/>
            <a:ext cx="10683240" cy="53340"/>
          </a:xfrm>
          <a:prstGeom prst="line">
            <a:avLst/>
          </a:prstGeom>
          <a:ln w="101600" cmpd="thickThin"/>
        </p:spPr>
        <p:style>
          <a:lnRef idx="1">
            <a:schemeClr val="accent1"/>
          </a:lnRef>
          <a:fillRef idx="0">
            <a:schemeClr val="accent1"/>
          </a:fillRef>
          <a:effectRef idx="0">
            <a:schemeClr val="accent1"/>
          </a:effectRef>
          <a:fontRef idx="minor">
            <a:schemeClr val="tx1"/>
          </a:fontRef>
        </p:style>
      </p:cxnSp>
      <p:sp>
        <p:nvSpPr>
          <p:cNvPr id="6" name="TextBox 18"/>
          <p:cNvSpPr txBox="1"/>
          <p:nvPr/>
        </p:nvSpPr>
        <p:spPr>
          <a:xfrm>
            <a:off x="11531283" y="18733"/>
            <a:ext cx="676275" cy="368300"/>
          </a:xfrm>
          <a:prstGeom prst="rect">
            <a:avLst/>
          </a:prstGeom>
          <a:noFill/>
          <a:ln w="9525">
            <a:noFill/>
          </a:ln>
        </p:spPr>
        <p:txBody>
          <a:bodyPr wrap="square" anchor="t" anchorCtr="0">
            <a:spAutoFit/>
          </a:bodyPr>
          <a:lstStyle/>
          <a:p>
            <a:r>
              <a:rPr lang="en-US" altLang="zh-CN" b="1" dirty="0"/>
              <a:t>5/13</a:t>
            </a:r>
            <a:endParaRPr lang="en-US" altLang="zh-CN" b="1" dirty="0">
              <a:latin typeface="Calibri" panose="020F0502020204030204" charset="0"/>
            </a:endParaRPr>
          </a:p>
        </p:txBody>
      </p:sp>
    </p:spTree>
    <p:extLst>
      <p:ext uri="{BB962C8B-B14F-4D97-AF65-F5344CB8AC3E}">
        <p14:creationId xmlns:p14="http://schemas.microsoft.com/office/powerpoint/2010/main" val="7721670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89865"/>
            <a:ext cx="10828071" cy="511175"/>
          </a:xfrm>
        </p:spPr>
        <p:txBody>
          <a:bodyPr/>
          <a:lstStyle/>
          <a:p>
            <a:r>
              <a:rPr lang="en-US" sz="3200" b="1" dirty="0"/>
              <a:t>STATUS OF INCOMPLETE DELIVERIES</a:t>
            </a:r>
            <a:endParaRPr lang="en-US" sz="2400" b="1" dirty="0"/>
          </a:p>
        </p:txBody>
      </p:sp>
      <p:sp>
        <p:nvSpPr>
          <p:cNvPr id="3" name="Content Placeholder 2"/>
          <p:cNvSpPr>
            <a:spLocks noGrp="1"/>
          </p:cNvSpPr>
          <p:nvPr>
            <p:ph idx="1"/>
          </p:nvPr>
        </p:nvSpPr>
        <p:spPr>
          <a:xfrm>
            <a:off x="838200" y="899160"/>
            <a:ext cx="10683240" cy="5887588"/>
          </a:xfrm>
        </p:spPr>
        <p:txBody>
          <a:bodyPr/>
          <a:lstStyle/>
          <a:p>
            <a:pPr>
              <a:buFont typeface="Wingdings" panose="05000000000000000000" pitchFamily="2" charset="2"/>
              <a:buChar char="Ø"/>
            </a:pPr>
            <a:r>
              <a:rPr lang="en-US" sz="2400" dirty="0"/>
              <a:t> </a:t>
            </a:r>
            <a:r>
              <a:rPr lang="en-US" sz="2400" b="1" dirty="0"/>
              <a:t>GOMBE</a:t>
            </a:r>
          </a:p>
          <a:p>
            <a:pPr marL="0" indent="0">
              <a:buNone/>
            </a:pPr>
            <a:r>
              <a:rPr lang="en-US" sz="2400" dirty="0" err="1">
                <a:solidFill>
                  <a:srgbClr val="000000"/>
                </a:solidFill>
                <a:latin typeface="Calibri" panose="020F0502020204030204" pitchFamily="34" charset="0"/>
              </a:rPr>
              <a:t>Gombe</a:t>
            </a:r>
            <a:r>
              <a:rPr lang="en-US" sz="2400" b="0" i="0" u="none" strike="noStrike" dirty="0">
                <a:solidFill>
                  <a:srgbClr val="000000"/>
                </a:solidFill>
                <a:effectLst/>
                <a:latin typeface="Calibri" panose="020F0502020204030204" pitchFamily="34" charset="0"/>
              </a:rPr>
              <a:t> </a:t>
            </a:r>
            <a:r>
              <a:rPr lang="en-US" sz="2400" dirty="0">
                <a:solidFill>
                  <a:srgbClr val="000000"/>
                </a:solidFill>
                <a:latin typeface="Calibri" panose="020F0502020204030204" pitchFamily="34" charset="0"/>
              </a:rPr>
              <a:t>reported</a:t>
            </a:r>
            <a:r>
              <a:rPr lang="en-US" sz="2400" b="0" i="0" u="none" strike="noStrike" dirty="0">
                <a:solidFill>
                  <a:srgbClr val="000000"/>
                </a:solidFill>
                <a:effectLst/>
                <a:latin typeface="Calibri" panose="020F0502020204030204" pitchFamily="34" charset="0"/>
              </a:rPr>
              <a:t> </a:t>
            </a:r>
            <a:r>
              <a:rPr lang="en-US" sz="2400" dirty="0">
                <a:solidFill>
                  <a:srgbClr val="000000"/>
                </a:solidFill>
                <a:latin typeface="Calibri" panose="020F0502020204030204" pitchFamily="34" charset="0"/>
              </a:rPr>
              <a:t>non-</a:t>
            </a:r>
            <a:r>
              <a:rPr lang="en-US" sz="2400" b="0" i="0" u="none" strike="noStrike" dirty="0">
                <a:solidFill>
                  <a:srgbClr val="000000"/>
                </a:solidFill>
                <a:effectLst/>
                <a:latin typeface="Calibri" panose="020F0502020204030204" pitchFamily="34" charset="0"/>
              </a:rPr>
              <a:t>delivery of </a:t>
            </a:r>
            <a:r>
              <a:rPr lang="en-US" sz="2400" dirty="0">
                <a:solidFill>
                  <a:srgbClr val="000000"/>
                </a:solidFill>
                <a:latin typeface="Calibri" panose="020F0502020204030204" pitchFamily="34" charset="0"/>
              </a:rPr>
              <a:t>ACTs</a:t>
            </a:r>
            <a:r>
              <a:rPr lang="en-US" sz="2400" b="0" i="0" u="none" strike="noStrike" dirty="0">
                <a:solidFill>
                  <a:srgbClr val="000000"/>
                </a:solidFill>
                <a:effectLst/>
                <a:latin typeface="Calibri" panose="020F0502020204030204" pitchFamily="34" charset="0"/>
              </a:rPr>
              <a:t> and </a:t>
            </a:r>
            <a:r>
              <a:rPr lang="en-US" sz="2400" b="0" i="0" u="none" strike="noStrike" dirty="0" err="1">
                <a:solidFill>
                  <a:srgbClr val="000000"/>
                </a:solidFill>
                <a:effectLst/>
                <a:latin typeface="Calibri" panose="020F0502020204030204" pitchFamily="34" charset="0"/>
              </a:rPr>
              <a:t>mRDT</a:t>
            </a:r>
            <a:r>
              <a:rPr lang="en-US" sz="2400" b="0" i="0" u="none" strike="noStrike" dirty="0">
                <a:solidFill>
                  <a:srgbClr val="000000"/>
                </a:solidFill>
                <a:effectLst/>
                <a:latin typeface="Calibri" panose="020F0502020204030204" pitchFamily="34" charset="0"/>
              </a:rPr>
              <a:t> meant for 4 HFs (MCH Kuka </a:t>
            </a:r>
            <a:r>
              <a:rPr lang="en-US" sz="2400" b="0" i="0" u="none" strike="noStrike" dirty="0" err="1">
                <a:solidFill>
                  <a:srgbClr val="000000"/>
                </a:solidFill>
                <a:effectLst/>
                <a:latin typeface="Calibri" panose="020F0502020204030204" pitchFamily="34" charset="0"/>
              </a:rPr>
              <a:t>Bakwai</a:t>
            </a:r>
            <a:r>
              <a:rPr lang="en-US" sz="2400" b="0" i="0" u="none" strike="noStrike" dirty="0">
                <a:solidFill>
                  <a:srgbClr val="000000"/>
                </a:solidFill>
                <a:effectLst/>
                <a:latin typeface="Calibri" panose="020F0502020204030204" pitchFamily="34" charset="0"/>
              </a:rPr>
              <a:t>, MCH </a:t>
            </a:r>
            <a:r>
              <a:rPr lang="en-US" sz="2400" b="0" i="0" u="none" strike="noStrike" dirty="0" err="1">
                <a:solidFill>
                  <a:srgbClr val="000000"/>
                </a:solidFill>
                <a:effectLst/>
                <a:latin typeface="Calibri" panose="020F0502020204030204" pitchFamily="34" charset="0"/>
              </a:rPr>
              <a:t>Jalingo</a:t>
            </a:r>
            <a:r>
              <a:rPr lang="en-US" sz="2400" b="0" i="0" u="none" strike="noStrike" dirty="0">
                <a:solidFill>
                  <a:srgbClr val="000000"/>
                </a:solidFill>
                <a:effectLst/>
                <a:latin typeface="Calibri" panose="020F0502020204030204" pitchFamily="34" charset="0"/>
              </a:rPr>
              <a:t> </a:t>
            </a:r>
            <a:r>
              <a:rPr lang="en-US" sz="2400" dirty="0" err="1">
                <a:solidFill>
                  <a:srgbClr val="000000"/>
                </a:solidFill>
                <a:latin typeface="Calibri" panose="020F0502020204030204" pitchFamily="34" charset="0"/>
              </a:rPr>
              <a:t>F</a:t>
            </a:r>
            <a:r>
              <a:rPr lang="en-US" sz="2400" b="0" i="0" u="none" strike="noStrike" dirty="0" err="1">
                <a:solidFill>
                  <a:srgbClr val="000000"/>
                </a:solidFill>
                <a:effectLst/>
                <a:latin typeface="Calibri" panose="020F0502020204030204" pitchFamily="34" charset="0"/>
              </a:rPr>
              <a:t>unakaye</a:t>
            </a:r>
            <a:r>
              <a:rPr lang="en-US" sz="2400" b="0" i="0" u="none" strike="noStrike" dirty="0">
                <a:solidFill>
                  <a:srgbClr val="000000"/>
                </a:solidFill>
                <a:effectLst/>
                <a:latin typeface="Calibri" panose="020F0502020204030204" pitchFamily="34" charset="0"/>
              </a:rPr>
              <a:t>, MCH Cube and MCH </a:t>
            </a:r>
            <a:r>
              <a:rPr lang="en-US" sz="2400" b="0" i="0" u="none" strike="noStrike" dirty="0" err="1">
                <a:solidFill>
                  <a:srgbClr val="000000"/>
                </a:solidFill>
                <a:effectLst/>
                <a:latin typeface="Calibri" panose="020F0502020204030204" pitchFamily="34" charset="0"/>
              </a:rPr>
              <a:t>Yarda</a:t>
            </a:r>
            <a:r>
              <a:rPr lang="en-US" sz="2400" b="0" i="0" u="none" strike="noStrike" dirty="0">
                <a:solidFill>
                  <a:srgbClr val="000000"/>
                </a:solidFill>
                <a:effectLst/>
                <a:latin typeface="Calibri" panose="020F0502020204030204" pitchFamily="34" charset="0"/>
              </a:rPr>
              <a:t>). The commodity were diverted by the conveyor who signed the PODs himself. Measures have been put in-place to mitigate future occurrence. A supplementary LMD was conducted to </a:t>
            </a:r>
            <a:r>
              <a:rPr lang="en-US" sz="2400" dirty="0">
                <a:solidFill>
                  <a:srgbClr val="000000"/>
                </a:solidFill>
                <a:latin typeface="Calibri" panose="020F0502020204030204" pitchFamily="34" charset="0"/>
              </a:rPr>
              <a:t>deliver</a:t>
            </a:r>
            <a:r>
              <a:rPr lang="en-US" sz="2400" b="0" i="0" u="none" strike="noStrike" dirty="0">
                <a:solidFill>
                  <a:srgbClr val="000000"/>
                </a:solidFill>
                <a:effectLst/>
                <a:latin typeface="Calibri" panose="020F0502020204030204" pitchFamily="34" charset="0"/>
              </a:rPr>
              <a:t> the commodities at the affected facilities.</a:t>
            </a:r>
            <a:endParaRPr lang="en-US" sz="2400" b="1" dirty="0"/>
          </a:p>
          <a:p>
            <a:pPr marL="0" indent="0">
              <a:buNone/>
            </a:pPr>
            <a:endParaRPr lang="en-US" sz="2400" b="1" i="0" u="none" strike="noStrike" dirty="0">
              <a:solidFill>
                <a:srgbClr val="000000"/>
              </a:solidFill>
              <a:effectLst/>
              <a:latin typeface="Calibri" panose="020F0502020204030204" pitchFamily="34" charset="0"/>
              <a:cs typeface="Calibri" panose="020F0502020204030204" pitchFamily="34" charset="0"/>
            </a:endParaRPr>
          </a:p>
          <a:p>
            <a:pPr>
              <a:buFont typeface="Wingdings" panose="05000000000000000000" pitchFamily="2" charset="2"/>
              <a:buChar char="Ø"/>
            </a:pPr>
            <a:r>
              <a:rPr lang="en-US" sz="2400" b="1" i="0" u="none" strike="noStrike" dirty="0">
                <a:solidFill>
                  <a:srgbClr val="000000"/>
                </a:solidFill>
                <a:effectLst/>
                <a:latin typeface="Calibri  "/>
              </a:rPr>
              <a:t>NIGER</a:t>
            </a:r>
          </a:p>
          <a:p>
            <a:pPr marL="0" indent="0">
              <a:buNone/>
            </a:pPr>
            <a:r>
              <a:rPr lang="en-US" sz="2400" dirty="0"/>
              <a:t>Three health facilities were undersupplied with malaria commodities. The facilities are: PHC </a:t>
            </a:r>
            <a:r>
              <a:rPr lang="en-US" sz="2400" dirty="0" err="1"/>
              <a:t>Mahilo</a:t>
            </a:r>
            <a:r>
              <a:rPr lang="en-US" sz="2400" dirty="0"/>
              <a:t> (</a:t>
            </a:r>
            <a:r>
              <a:rPr lang="en-US" sz="2400" dirty="0" err="1"/>
              <a:t>Magama</a:t>
            </a:r>
            <a:r>
              <a:rPr lang="en-US" sz="2400" dirty="0"/>
              <a:t> LGA) AL1 30 (out of 60 doses expected only 30 were supplied), PHC </a:t>
            </a:r>
            <a:r>
              <a:rPr lang="en-US" sz="2400" dirty="0" err="1"/>
              <a:t>Guni</a:t>
            </a:r>
            <a:r>
              <a:rPr lang="en-US" sz="2400" dirty="0"/>
              <a:t> AL2 58 (out of 120 doses expected only 62 doses were received) and PHC </a:t>
            </a:r>
            <a:r>
              <a:rPr lang="en-US" sz="2400" dirty="0" err="1"/>
              <a:t>Guduma</a:t>
            </a:r>
            <a:r>
              <a:rPr lang="en-US" sz="2400" dirty="0"/>
              <a:t> (</a:t>
            </a:r>
            <a:r>
              <a:rPr lang="en-US" sz="2400" dirty="0" err="1"/>
              <a:t>Munya</a:t>
            </a:r>
            <a:r>
              <a:rPr lang="en-US" sz="2400" dirty="0"/>
              <a:t> LGA) AL2 87 (out of 90 doses expected only 3 doses were received)</a:t>
            </a:r>
            <a:r>
              <a:rPr lang="en-US" sz="2400" dirty="0">
                <a:solidFill>
                  <a:srgbClr val="FF0000"/>
                </a:solidFill>
              </a:rPr>
              <a:t> </a:t>
            </a:r>
            <a:r>
              <a:rPr lang="en-US" sz="2400" dirty="0"/>
              <a:t>. A total of 175 doses of ACTs was not supplied, </a:t>
            </a:r>
            <a:r>
              <a:rPr lang="en-US" sz="2400" dirty="0">
                <a:latin typeface="Calibri  "/>
              </a:rPr>
              <a:t>though</a:t>
            </a:r>
            <a:r>
              <a:rPr lang="en-US" sz="2400" i="0" u="none" strike="noStrike" dirty="0">
                <a:effectLst/>
                <a:latin typeface="Calibri  "/>
              </a:rPr>
              <a:t> reported to </a:t>
            </a:r>
            <a:r>
              <a:rPr lang="en-US" sz="2400" i="0" u="none" strike="noStrike" dirty="0" err="1">
                <a:effectLst/>
                <a:latin typeface="Calibri  "/>
              </a:rPr>
              <a:t>chemonics</a:t>
            </a:r>
            <a:r>
              <a:rPr lang="en-US" sz="2400" i="0" u="none" strike="noStrike" dirty="0">
                <a:effectLst/>
                <a:latin typeface="Calibri  "/>
              </a:rPr>
              <a:t> but yet to be resolved</a:t>
            </a:r>
            <a:r>
              <a:rPr lang="en-US" sz="2400" dirty="0">
                <a:latin typeface="Calibri  "/>
              </a:rPr>
              <a:t>.</a:t>
            </a:r>
          </a:p>
          <a:p>
            <a:pPr marL="0" indent="0">
              <a:buNone/>
            </a:pPr>
            <a:endParaRPr lang="en-US" sz="2400" dirty="0">
              <a:solidFill>
                <a:srgbClr val="FF0000"/>
              </a:solidFill>
              <a:latin typeface="Calibri  "/>
            </a:endParaRPr>
          </a:p>
        </p:txBody>
      </p:sp>
      <p:cxnSp>
        <p:nvCxnSpPr>
          <p:cNvPr id="5" name="Straight Connector 4"/>
          <p:cNvCxnSpPr/>
          <p:nvPr/>
        </p:nvCxnSpPr>
        <p:spPr>
          <a:xfrm flipV="1">
            <a:off x="838200" y="649688"/>
            <a:ext cx="10683240" cy="53340"/>
          </a:xfrm>
          <a:prstGeom prst="line">
            <a:avLst/>
          </a:prstGeom>
          <a:ln w="101600" cmpd="thickThin"/>
        </p:spPr>
        <p:style>
          <a:lnRef idx="1">
            <a:schemeClr val="accent1"/>
          </a:lnRef>
          <a:fillRef idx="0">
            <a:schemeClr val="accent1"/>
          </a:fillRef>
          <a:effectRef idx="0">
            <a:schemeClr val="accent1"/>
          </a:effectRef>
          <a:fontRef idx="minor">
            <a:schemeClr val="tx1"/>
          </a:fontRef>
        </p:style>
      </p:cxnSp>
      <p:sp>
        <p:nvSpPr>
          <p:cNvPr id="6" name="TextBox 18"/>
          <p:cNvSpPr txBox="1"/>
          <p:nvPr/>
        </p:nvSpPr>
        <p:spPr>
          <a:xfrm>
            <a:off x="11531283" y="18733"/>
            <a:ext cx="676275" cy="368300"/>
          </a:xfrm>
          <a:prstGeom prst="rect">
            <a:avLst/>
          </a:prstGeom>
          <a:noFill/>
          <a:ln w="9525">
            <a:noFill/>
          </a:ln>
        </p:spPr>
        <p:txBody>
          <a:bodyPr wrap="square" anchor="t" anchorCtr="0">
            <a:spAutoFit/>
          </a:bodyPr>
          <a:lstStyle/>
          <a:p>
            <a:r>
              <a:rPr lang="en-US" altLang="zh-CN" b="1" dirty="0">
                <a:latin typeface="Calibri" panose="020F0502020204030204" charset="0"/>
              </a:rPr>
              <a:t>8/13</a:t>
            </a:r>
          </a:p>
        </p:txBody>
      </p:sp>
    </p:spTree>
    <p:extLst>
      <p:ext uri="{BB962C8B-B14F-4D97-AF65-F5344CB8AC3E}">
        <p14:creationId xmlns:p14="http://schemas.microsoft.com/office/powerpoint/2010/main" val="15572679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89865"/>
            <a:ext cx="10828071" cy="511175"/>
          </a:xfrm>
        </p:spPr>
        <p:txBody>
          <a:bodyPr/>
          <a:lstStyle/>
          <a:p>
            <a:r>
              <a:rPr lang="en-US" sz="3200" b="1" dirty="0"/>
              <a:t>STATUS OF INCOMPLETE DELIVERIES – cont.</a:t>
            </a:r>
            <a:endParaRPr lang="en-US" sz="2400" b="1" dirty="0"/>
          </a:p>
        </p:txBody>
      </p:sp>
      <p:sp>
        <p:nvSpPr>
          <p:cNvPr id="3" name="Content Placeholder 2"/>
          <p:cNvSpPr>
            <a:spLocks noGrp="1"/>
          </p:cNvSpPr>
          <p:nvPr>
            <p:ph idx="1"/>
          </p:nvPr>
        </p:nvSpPr>
        <p:spPr>
          <a:xfrm>
            <a:off x="838200" y="899160"/>
            <a:ext cx="10683240" cy="5887588"/>
          </a:xfrm>
        </p:spPr>
        <p:txBody>
          <a:bodyPr/>
          <a:lstStyle/>
          <a:p>
            <a:pPr>
              <a:buFont typeface="Wingdings" panose="05000000000000000000" pitchFamily="2" charset="2"/>
              <a:buChar char="Ø"/>
            </a:pPr>
            <a:r>
              <a:rPr lang="en-US" sz="2400" dirty="0"/>
              <a:t> </a:t>
            </a:r>
            <a:r>
              <a:rPr lang="en-US" sz="2400" b="1" dirty="0"/>
              <a:t>KANO</a:t>
            </a:r>
          </a:p>
          <a:p>
            <a:pPr marL="0" indent="0">
              <a:buNone/>
            </a:pPr>
            <a:r>
              <a:rPr lang="en-US" sz="2400" dirty="0"/>
              <a:t>Malaria health products of AL2 (120 doses) and RDT (350 doses) meant for HF LGA (</a:t>
            </a:r>
            <a:r>
              <a:rPr lang="en-US" sz="2400" dirty="0" err="1"/>
              <a:t>Rijiyar</a:t>
            </a:r>
            <a:r>
              <a:rPr lang="en-US" sz="2400" dirty="0"/>
              <a:t> </a:t>
            </a:r>
            <a:r>
              <a:rPr lang="en-US" sz="2400" dirty="0" err="1"/>
              <a:t>lemo</a:t>
            </a:r>
            <a:r>
              <a:rPr lang="en-US" sz="2400" dirty="0"/>
              <a:t> MCH) in </a:t>
            </a:r>
            <a:r>
              <a:rPr lang="en-US" sz="2400" dirty="0" err="1"/>
              <a:t>Fagge</a:t>
            </a:r>
            <a:r>
              <a:rPr lang="en-US" sz="2400" dirty="0"/>
              <a:t> LGA was not supplied.</a:t>
            </a:r>
            <a:endParaRPr lang="en-US" sz="2400" b="1" i="0" u="none" strike="noStrike" dirty="0">
              <a:solidFill>
                <a:srgbClr val="000000"/>
              </a:solidFill>
              <a:effectLst/>
              <a:latin typeface="Calibri" panose="020F0502020204030204" pitchFamily="34" charset="0"/>
              <a:cs typeface="Calibri" panose="020F0502020204030204" pitchFamily="34" charset="0"/>
            </a:endParaRPr>
          </a:p>
          <a:p>
            <a:pPr marL="0" indent="0">
              <a:buNone/>
            </a:pPr>
            <a:endParaRPr lang="en-US" sz="2400" dirty="0">
              <a:latin typeface="Calibri  "/>
            </a:endParaRPr>
          </a:p>
          <a:p>
            <a:pPr marL="0" indent="0">
              <a:buNone/>
            </a:pPr>
            <a:endParaRPr lang="en-US" sz="2400" dirty="0">
              <a:solidFill>
                <a:srgbClr val="FF0000"/>
              </a:solidFill>
              <a:latin typeface="Calibri  "/>
            </a:endParaRPr>
          </a:p>
        </p:txBody>
      </p:sp>
      <p:cxnSp>
        <p:nvCxnSpPr>
          <p:cNvPr id="5" name="Straight Connector 4"/>
          <p:cNvCxnSpPr/>
          <p:nvPr/>
        </p:nvCxnSpPr>
        <p:spPr>
          <a:xfrm flipV="1">
            <a:off x="838200" y="649688"/>
            <a:ext cx="10683240" cy="53340"/>
          </a:xfrm>
          <a:prstGeom prst="line">
            <a:avLst/>
          </a:prstGeom>
          <a:ln w="101600" cmpd="thickThin"/>
        </p:spPr>
        <p:style>
          <a:lnRef idx="1">
            <a:schemeClr val="accent1"/>
          </a:lnRef>
          <a:fillRef idx="0">
            <a:schemeClr val="accent1"/>
          </a:fillRef>
          <a:effectRef idx="0">
            <a:schemeClr val="accent1"/>
          </a:effectRef>
          <a:fontRef idx="minor">
            <a:schemeClr val="tx1"/>
          </a:fontRef>
        </p:style>
      </p:cxnSp>
      <p:sp>
        <p:nvSpPr>
          <p:cNvPr id="6" name="TextBox 18"/>
          <p:cNvSpPr txBox="1"/>
          <p:nvPr/>
        </p:nvSpPr>
        <p:spPr>
          <a:xfrm>
            <a:off x="11531283" y="18733"/>
            <a:ext cx="676275" cy="368300"/>
          </a:xfrm>
          <a:prstGeom prst="rect">
            <a:avLst/>
          </a:prstGeom>
          <a:noFill/>
          <a:ln w="9525">
            <a:noFill/>
          </a:ln>
        </p:spPr>
        <p:txBody>
          <a:bodyPr wrap="square" anchor="t" anchorCtr="0">
            <a:spAutoFit/>
          </a:bodyPr>
          <a:lstStyle/>
          <a:p>
            <a:r>
              <a:rPr lang="en-US" altLang="zh-CN" b="1" dirty="0">
                <a:latin typeface="Calibri" panose="020F0502020204030204" charset="0"/>
              </a:rPr>
              <a:t>8/13</a:t>
            </a:r>
          </a:p>
        </p:txBody>
      </p:sp>
    </p:spTree>
    <p:extLst>
      <p:ext uri="{BB962C8B-B14F-4D97-AF65-F5344CB8AC3E}">
        <p14:creationId xmlns:p14="http://schemas.microsoft.com/office/powerpoint/2010/main" val="7768264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9865"/>
            <a:ext cx="10515600" cy="511175"/>
          </a:xfrm>
        </p:spPr>
        <p:txBody>
          <a:bodyPr/>
          <a:lstStyle/>
          <a:p>
            <a:r>
              <a:rPr lang="en-US" sz="3600" b="1" dirty="0"/>
              <a:t>ISSUES AND CHALLENGES</a:t>
            </a:r>
          </a:p>
        </p:txBody>
      </p:sp>
      <p:sp>
        <p:nvSpPr>
          <p:cNvPr id="3" name="Content Placeholder 2"/>
          <p:cNvSpPr>
            <a:spLocks noGrp="1"/>
          </p:cNvSpPr>
          <p:nvPr>
            <p:ph idx="1"/>
          </p:nvPr>
        </p:nvSpPr>
        <p:spPr>
          <a:xfrm>
            <a:off x="838200" y="899160"/>
            <a:ext cx="10683240" cy="5722620"/>
          </a:xfrm>
        </p:spPr>
        <p:txBody>
          <a:bodyPr/>
          <a:lstStyle/>
          <a:p>
            <a:r>
              <a:rPr lang="en-US" sz="2400" dirty="0"/>
              <a:t>Late submission of  feedback on </a:t>
            </a:r>
            <a:r>
              <a:rPr lang="en-US" sz="2400" dirty="0" err="1"/>
              <a:t>iLMD</a:t>
            </a:r>
            <a:r>
              <a:rPr lang="en-US" sz="2400" dirty="0"/>
              <a:t> and POD reconciliation templates by LMCU coordinators resulting from delayed LMD and submission of PODs by 3PLs.</a:t>
            </a:r>
          </a:p>
          <a:p>
            <a:r>
              <a:rPr lang="en-US" sz="2400" dirty="0"/>
              <a:t>Incomplete information and none submission of supporting documents  where variances occurred.</a:t>
            </a:r>
          </a:p>
          <a:p>
            <a:pPr marL="0" indent="0">
              <a:buNone/>
            </a:pPr>
            <a:endParaRPr lang="en-US" sz="2400" dirty="0">
              <a:solidFill>
                <a:srgbClr val="FF0000"/>
              </a:solidFill>
            </a:endParaRPr>
          </a:p>
          <a:p>
            <a:pPr marL="0" indent="0">
              <a:buNone/>
            </a:pPr>
            <a:endParaRPr lang="en-US" sz="2400" dirty="0"/>
          </a:p>
        </p:txBody>
      </p:sp>
      <p:cxnSp>
        <p:nvCxnSpPr>
          <p:cNvPr id="5" name="Straight Connector 4"/>
          <p:cNvCxnSpPr/>
          <p:nvPr/>
        </p:nvCxnSpPr>
        <p:spPr>
          <a:xfrm flipV="1">
            <a:off x="838200" y="701040"/>
            <a:ext cx="10683240" cy="53340"/>
          </a:xfrm>
          <a:prstGeom prst="line">
            <a:avLst/>
          </a:prstGeom>
          <a:ln w="101600" cmpd="thickThi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8DBA4FC-5AE9-43EA-97A7-95F9C81AABF5}"/>
              </a:ext>
            </a:extLst>
          </p:cNvPr>
          <p:cNvSpPr txBox="1"/>
          <p:nvPr/>
        </p:nvSpPr>
        <p:spPr>
          <a:xfrm>
            <a:off x="11023899" y="136525"/>
            <a:ext cx="995081" cy="369332"/>
          </a:xfrm>
          <a:prstGeom prst="rect">
            <a:avLst/>
          </a:prstGeom>
          <a:noFill/>
        </p:spPr>
        <p:txBody>
          <a:bodyPr wrap="square" rtlCol="0">
            <a:spAutoFit/>
          </a:bodyPr>
          <a:lstStyle/>
          <a:p>
            <a:r>
              <a:rPr lang="en-US" b="1" dirty="0"/>
              <a:t>1O/13</a:t>
            </a:r>
          </a:p>
        </p:txBody>
      </p:sp>
    </p:spTree>
    <p:extLst>
      <p:ext uri="{BB962C8B-B14F-4D97-AF65-F5344CB8AC3E}">
        <p14:creationId xmlns:p14="http://schemas.microsoft.com/office/powerpoint/2010/main" val="8007444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E0617-462C-37E1-D2E8-A6256B19DB74}"/>
              </a:ext>
            </a:extLst>
          </p:cNvPr>
          <p:cNvSpPr>
            <a:spLocks noGrp="1"/>
          </p:cNvSpPr>
          <p:nvPr>
            <p:ph type="title"/>
          </p:nvPr>
        </p:nvSpPr>
        <p:spPr/>
        <p:txBody>
          <a:bodyPr/>
          <a:lstStyle/>
          <a:p>
            <a:r>
              <a:rPr lang="en-US" u="sng" dirty="0">
                <a:solidFill>
                  <a:schemeClr val="accent1"/>
                </a:solidFill>
              </a:rPr>
              <a:t>Additional Comments by States</a:t>
            </a:r>
          </a:p>
        </p:txBody>
      </p:sp>
      <p:sp>
        <p:nvSpPr>
          <p:cNvPr id="3" name="Content Placeholder 2">
            <a:extLst>
              <a:ext uri="{FF2B5EF4-FFF2-40B4-BE49-F238E27FC236}">
                <a16:creationId xmlns:a16="http://schemas.microsoft.com/office/drawing/2014/main" id="{475C73C6-D4AC-E240-A83D-4B18F1776F0F}"/>
              </a:ext>
            </a:extLst>
          </p:cNvPr>
          <p:cNvSpPr>
            <a:spLocks noGrp="1"/>
          </p:cNvSpPr>
          <p:nvPr>
            <p:ph idx="1"/>
          </p:nvPr>
        </p:nvSpPr>
        <p:spPr>
          <a:xfrm>
            <a:off x="939531" y="1383635"/>
            <a:ext cx="10515600" cy="4811989"/>
          </a:xfrm>
        </p:spPr>
        <p:txBody>
          <a:bodyPr/>
          <a:lstStyle/>
          <a:p>
            <a:pPr>
              <a:buFont typeface="Wingdings" panose="05000000000000000000" pitchFamily="2" charset="2"/>
              <a:buChar char="Ø"/>
            </a:pPr>
            <a:r>
              <a:rPr lang="en-US" sz="2400" b="1" dirty="0"/>
              <a:t>KANO</a:t>
            </a:r>
          </a:p>
          <a:p>
            <a:pPr marL="0" indent="0">
              <a:buNone/>
            </a:pPr>
            <a:r>
              <a:rPr lang="en-US" sz="2400" dirty="0"/>
              <a:t>Issue of bulk allocation for GF malaria products are constantly on the decline.</a:t>
            </a:r>
            <a:endParaRPr lang="en-US" sz="2400" b="1" dirty="0"/>
          </a:p>
          <a:p>
            <a:pPr marL="0" indent="0">
              <a:buNone/>
            </a:pPr>
            <a:endParaRPr lang="en-US" sz="2400" b="1" dirty="0"/>
          </a:p>
          <a:p>
            <a:pPr marL="0" indent="0">
              <a:buNone/>
            </a:pPr>
            <a:r>
              <a:rPr lang="en-US" sz="2400" b="1" dirty="0"/>
              <a:t>NIGER</a:t>
            </a:r>
          </a:p>
          <a:p>
            <a:pPr marL="0" indent="0">
              <a:buNone/>
            </a:pPr>
            <a:r>
              <a:rPr lang="en-US" sz="2400" dirty="0"/>
              <a:t>FP and Immunization are yet to start sharing PODs with LMCU. </a:t>
            </a:r>
          </a:p>
          <a:p>
            <a:pPr marL="0" indent="0">
              <a:buNone/>
            </a:pPr>
            <a:endParaRPr lang="en-US" sz="2400" dirty="0"/>
          </a:p>
          <a:p>
            <a:pPr>
              <a:buFont typeface="Wingdings" panose="05000000000000000000" pitchFamily="2" charset="2"/>
              <a:buChar char="Ø"/>
            </a:pPr>
            <a:r>
              <a:rPr lang="en-US" sz="2400" b="1" dirty="0">
                <a:solidFill>
                  <a:srgbClr val="000000"/>
                </a:solidFill>
                <a:latin typeface="Calibri" panose="020F0502020204030204" pitchFamily="34" charset="0"/>
              </a:rPr>
              <a:t>OGUN</a:t>
            </a:r>
          </a:p>
          <a:p>
            <a:pPr marL="0" indent="0">
              <a:buNone/>
            </a:pPr>
            <a:r>
              <a:rPr lang="en-US" sz="2400" dirty="0"/>
              <a:t>Kindly provide State LMCU prior information on short dated commodities before delivery.</a:t>
            </a:r>
            <a:endParaRPr lang="en-US" sz="2400" b="1" i="0" u="none" strike="noStrike" dirty="0">
              <a:solidFill>
                <a:srgbClr val="000000"/>
              </a:solidFill>
              <a:effectLst/>
              <a:latin typeface="Calibri" panose="020F0502020204030204" pitchFamily="34" charset="0"/>
            </a:endParaRPr>
          </a:p>
          <a:p>
            <a:pPr marL="0" indent="0">
              <a:buNone/>
            </a:pPr>
            <a:endParaRPr lang="en-US" sz="2400" dirty="0"/>
          </a:p>
        </p:txBody>
      </p:sp>
      <p:sp>
        <p:nvSpPr>
          <p:cNvPr id="4" name="TextBox 3">
            <a:extLst>
              <a:ext uri="{FF2B5EF4-FFF2-40B4-BE49-F238E27FC236}">
                <a16:creationId xmlns:a16="http://schemas.microsoft.com/office/drawing/2014/main" id="{90FCB791-8581-47AA-AB2B-4066A345B5FD}"/>
              </a:ext>
            </a:extLst>
          </p:cNvPr>
          <p:cNvSpPr txBox="1"/>
          <p:nvPr/>
        </p:nvSpPr>
        <p:spPr>
          <a:xfrm>
            <a:off x="11080377" y="311705"/>
            <a:ext cx="749508" cy="369332"/>
          </a:xfrm>
          <a:prstGeom prst="rect">
            <a:avLst/>
          </a:prstGeom>
          <a:noFill/>
        </p:spPr>
        <p:txBody>
          <a:bodyPr wrap="square" rtlCol="0">
            <a:spAutoFit/>
          </a:bodyPr>
          <a:lstStyle/>
          <a:p>
            <a:r>
              <a:rPr lang="en-US" b="1" dirty="0"/>
              <a:t>11/13</a:t>
            </a:r>
          </a:p>
        </p:txBody>
      </p:sp>
    </p:spTree>
    <p:extLst>
      <p:ext uri="{BB962C8B-B14F-4D97-AF65-F5344CB8AC3E}">
        <p14:creationId xmlns:p14="http://schemas.microsoft.com/office/powerpoint/2010/main" val="13658113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9865"/>
            <a:ext cx="10515600" cy="511175"/>
          </a:xfrm>
        </p:spPr>
        <p:txBody>
          <a:bodyPr/>
          <a:lstStyle/>
          <a:p>
            <a:r>
              <a:rPr lang="en-US" sz="3600" b="1" dirty="0"/>
              <a:t>RECOMMENDATIONS</a:t>
            </a:r>
          </a:p>
        </p:txBody>
      </p:sp>
      <p:sp>
        <p:nvSpPr>
          <p:cNvPr id="3" name="Content Placeholder 2"/>
          <p:cNvSpPr>
            <a:spLocks noGrp="1"/>
          </p:cNvSpPr>
          <p:nvPr>
            <p:ph idx="1"/>
          </p:nvPr>
        </p:nvSpPr>
        <p:spPr>
          <a:xfrm>
            <a:off x="838200" y="899160"/>
            <a:ext cx="10683240" cy="5722620"/>
          </a:xfrm>
        </p:spPr>
        <p:txBody>
          <a:bodyPr/>
          <a:lstStyle/>
          <a:p>
            <a:r>
              <a:rPr lang="en-US" sz="2400" dirty="0"/>
              <a:t>LMCU coordinators should endeavor to stick to timelines for submission of feedback to NPSCMP and oversee officers assigned to this task to ensure only completed and quality data/information is sent.</a:t>
            </a:r>
            <a:endParaRPr lang="en-US" sz="2400" dirty="0">
              <a:solidFill>
                <a:srgbClr val="FF0000"/>
              </a:solidFill>
            </a:endParaRPr>
          </a:p>
          <a:p>
            <a:endParaRPr lang="en-US" sz="2400" dirty="0">
              <a:solidFill>
                <a:srgbClr val="FF0000"/>
              </a:solidFill>
            </a:endParaRPr>
          </a:p>
          <a:p>
            <a:endParaRPr lang="en-US" sz="2400" dirty="0"/>
          </a:p>
        </p:txBody>
      </p:sp>
      <p:cxnSp>
        <p:nvCxnSpPr>
          <p:cNvPr id="5" name="Straight Connector 4"/>
          <p:cNvCxnSpPr/>
          <p:nvPr/>
        </p:nvCxnSpPr>
        <p:spPr>
          <a:xfrm flipV="1">
            <a:off x="838200" y="701040"/>
            <a:ext cx="10683240" cy="53340"/>
          </a:xfrm>
          <a:prstGeom prst="line">
            <a:avLst/>
          </a:prstGeom>
          <a:ln w="101600" cmpd="thickThi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BC8DCE6-77C9-403C-AB41-F92641703604}"/>
              </a:ext>
            </a:extLst>
          </p:cNvPr>
          <p:cNvSpPr txBox="1"/>
          <p:nvPr/>
        </p:nvSpPr>
        <p:spPr>
          <a:xfrm>
            <a:off x="11147612" y="189865"/>
            <a:ext cx="793376" cy="369332"/>
          </a:xfrm>
          <a:prstGeom prst="rect">
            <a:avLst/>
          </a:prstGeom>
          <a:noFill/>
        </p:spPr>
        <p:txBody>
          <a:bodyPr wrap="square" rtlCol="0">
            <a:spAutoFit/>
          </a:bodyPr>
          <a:lstStyle/>
          <a:p>
            <a:r>
              <a:rPr lang="en-US" b="1" dirty="0"/>
              <a:t>12/13</a:t>
            </a:r>
          </a:p>
        </p:txBody>
      </p:sp>
    </p:spTree>
    <p:extLst>
      <p:ext uri="{BB962C8B-B14F-4D97-AF65-F5344CB8AC3E}">
        <p14:creationId xmlns:p14="http://schemas.microsoft.com/office/powerpoint/2010/main" val="28283615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32075"/>
            <a:ext cx="10515600" cy="1325563"/>
          </a:xfrm>
        </p:spPr>
        <p:txBody>
          <a:bodyPr/>
          <a:lstStyle/>
          <a:p>
            <a:pPr algn="ctr"/>
            <a:r>
              <a:rPr lang="en-US" sz="8000">
                <a:latin typeface="Lucida Calligraphy" panose="03010101010101010101" charset="0"/>
                <a:cs typeface="Lucida Calligraphy" panose="03010101010101010101" charset="0"/>
              </a:rPr>
              <a:t>Thanks for listening</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F8601E-9139-4F0E-B0EF-DF47D7F6B8D5}">
  <we:reference id="wa104178141" version="4.3.3.0" store="en-US" storeType="OMEX"/>
  <we:alternateReferences>
    <we:reference id="WA104178141" version="4.3.3.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6003</TotalTime>
  <Words>777</Words>
  <Application>Microsoft Office PowerPoint</Application>
  <PresentationFormat>Widescreen</PresentationFormat>
  <Paragraphs>92</Paragraphs>
  <Slides>13</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Calibri</vt:lpstr>
      <vt:lpstr>Calibri  </vt:lpstr>
      <vt:lpstr>Calibri Light</vt:lpstr>
      <vt:lpstr>Lucida Calligraphy</vt:lpstr>
      <vt:lpstr>Wingdings</vt:lpstr>
      <vt:lpstr>Office Theme</vt:lpstr>
      <vt:lpstr>1_Office Theme</vt:lpstr>
      <vt:lpstr> May/June LMD 2023 Distribution Cycle  </vt:lpstr>
      <vt:lpstr>OUTLINE OF PRESENTATION</vt:lpstr>
      <vt:lpstr>METHODOLOGY ADOPTED FOR DATA COLLECTION</vt:lpstr>
      <vt:lpstr>PowerPoint Presentation</vt:lpstr>
      <vt:lpstr>PowerPoint Presentation</vt:lpstr>
      <vt:lpstr>PowerPoint Presentation</vt:lpstr>
      <vt:lpstr>STATUS OF PROXY DELIVERIES </vt:lpstr>
      <vt:lpstr>STATUS OF INCOMPLETE DELIVERIES</vt:lpstr>
      <vt:lpstr>STATUS OF INCOMPLETE DELIVERIES – cont.</vt:lpstr>
      <vt:lpstr>ISSUES AND CHALLENGES</vt:lpstr>
      <vt:lpstr>Additional Comments by States</vt:lpstr>
      <vt:lpstr>RECOMMENDATIONS</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Oladeru Olatunbosun</dc:creator>
  <cp:lastModifiedBy>Adegboyega Adeoti</cp:lastModifiedBy>
  <cp:revision>519</cp:revision>
  <dcterms:created xsi:type="dcterms:W3CDTF">2020-06-22T15:29:00Z</dcterms:created>
  <dcterms:modified xsi:type="dcterms:W3CDTF">2025-02-12T21:21:38Z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1033-11.2.0.10200</vt:lpwstr>
  </property>
</Properties>
</file>